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Lst>
  <p:sldSz cx="18288000" cy="10287000"/>
  <p:notesSz cx="6858000" cy="9144000"/>
  <p:embeddedFontLst>
    <p:embeddedFont>
      <p:font typeface="Open Sauce" panose="020B0604020202020204" charset="0"/>
      <p:regular r:id="rId10"/>
    </p:embeddedFont>
    <p:embeddedFont>
      <p:font typeface="Open Sauce Bold" panose="020B0604020202020204" charset="0"/>
      <p:regular r:id="rId11"/>
    </p:embeddedFont>
    <p:embeddedFont>
      <p:font typeface="Open Sauce Light" panose="020B0604020202020204" charset="0"/>
      <p:regular r:id="rId12"/>
    </p:embeddedFont>
    <p:embeddedFont>
      <p:font typeface="Open Sauce Medium" panose="020B0604020202020204" charset="0"/>
      <p:regular r:id="rId13"/>
    </p:embeddedFont>
    <p:embeddedFont>
      <p:font typeface="Tex Gyre Bonum" panose="020B0604020202020204" charset="0"/>
      <p:regular r:id="rId1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2" d="100"/>
          <a:sy n="52" d="100"/>
        </p:scale>
        <p:origin x="850" y="6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4.fntdata"/><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3.fntdata"/><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2.fntdata"/><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font" Target="fonts/font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5.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11/11/2025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11/11/2025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11/11/2025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11/11/2025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11/11/2025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11/11/2025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11/11/2025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6.sv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Layout" Target="../slideLayouts/slideLayout7.xml"/><Relationship Id="rId5" Type="http://schemas.openxmlformats.org/officeDocument/2006/relationships/image" Target="../media/image10.svg"/><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3" Type="http://schemas.openxmlformats.org/officeDocument/2006/relationships/image" Target="../media/image4.svg"/><Relationship Id="rId7" Type="http://schemas.openxmlformats.org/officeDocument/2006/relationships/image" Target="../media/image10.sv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12.svg"/><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6.sv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6.sv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10.svg"/><Relationship Id="rId7" Type="http://schemas.openxmlformats.org/officeDocument/2006/relationships/image" Target="../media/image12.svg"/><Relationship Id="rId2" Type="http://schemas.openxmlformats.org/officeDocument/2006/relationships/image" Target="../media/image9.png"/><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8.sv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Freeform 2"/>
          <p:cNvSpPr/>
          <p:nvPr/>
        </p:nvSpPr>
        <p:spPr>
          <a:xfrm rot="-5400000">
            <a:off x="5443169" y="-2557831"/>
            <a:ext cx="7401663" cy="18288000"/>
          </a:xfrm>
          <a:custGeom>
            <a:avLst/>
            <a:gdLst/>
            <a:ahLst/>
            <a:cxnLst/>
            <a:rect l="l" t="t" r="r" b="b"/>
            <a:pathLst>
              <a:path w="7401663" h="18288000">
                <a:moveTo>
                  <a:pt x="0" y="0"/>
                </a:moveTo>
                <a:lnTo>
                  <a:pt x="7401662" y="0"/>
                </a:lnTo>
                <a:lnTo>
                  <a:pt x="7401662" y="18288000"/>
                </a:lnTo>
                <a:lnTo>
                  <a:pt x="0" y="18288000"/>
                </a:lnTo>
                <a:lnTo>
                  <a:pt x="0" y="0"/>
                </a:lnTo>
                <a:close/>
              </a:path>
            </a:pathLst>
          </a:custGeom>
          <a:blipFill>
            <a:blip r:embed="rId2">
              <a:extLst>
                <a:ext uri="{96DAC541-7B7A-43D3-8B79-37D633B846F1}">
                  <asvg:svgBlip xmlns:asvg="http://schemas.microsoft.com/office/drawing/2016/SVG/main" r:embed="rId3"/>
                </a:ext>
              </a:extLst>
            </a:blip>
            <a:stretch>
              <a:fillRect l="-37016"/>
            </a:stretch>
          </a:blipFill>
        </p:spPr>
      </p:sp>
      <p:sp>
        <p:nvSpPr>
          <p:cNvPr id="3" name="TextBox 3"/>
          <p:cNvSpPr txBox="1"/>
          <p:nvPr/>
        </p:nvSpPr>
        <p:spPr>
          <a:xfrm>
            <a:off x="2590277" y="3625576"/>
            <a:ext cx="12747285" cy="1749425"/>
          </a:xfrm>
          <a:prstGeom prst="rect">
            <a:avLst/>
          </a:prstGeom>
        </p:spPr>
        <p:txBody>
          <a:bodyPr lIns="0" tIns="0" rIns="0" bIns="0" rtlCol="0" anchor="t">
            <a:spAutoFit/>
          </a:bodyPr>
          <a:lstStyle/>
          <a:p>
            <a:pPr marL="0" lvl="0" indent="0" algn="ctr">
              <a:lnSpc>
                <a:spcPts val="7000"/>
              </a:lnSpc>
              <a:spcBef>
                <a:spcPct val="0"/>
              </a:spcBef>
            </a:pPr>
            <a:r>
              <a:rPr lang="en-US" sz="5000" b="1" spc="-235" dirty="0">
                <a:solidFill>
                  <a:srgbClr val="FFFFFF"/>
                </a:solidFill>
                <a:latin typeface="Open Sauce Medium"/>
                <a:ea typeface="Open Sauce Medium"/>
                <a:cs typeface="Open Sauce Medium"/>
                <a:sym typeface="Open Sauce Medium"/>
              </a:rPr>
              <a:t>IOT Smart Parking using RFID Scan and Parking Slot Availability on Android App</a:t>
            </a:r>
          </a:p>
        </p:txBody>
      </p:sp>
      <p:sp>
        <p:nvSpPr>
          <p:cNvPr id="4" name="TextBox 4"/>
          <p:cNvSpPr txBox="1"/>
          <p:nvPr/>
        </p:nvSpPr>
        <p:spPr>
          <a:xfrm>
            <a:off x="6534090" y="2299351"/>
            <a:ext cx="5219819" cy="588374"/>
          </a:xfrm>
          <a:prstGeom prst="rect">
            <a:avLst/>
          </a:prstGeom>
        </p:spPr>
        <p:txBody>
          <a:bodyPr lIns="0" tIns="0" rIns="0" bIns="0" rtlCol="0" anchor="t">
            <a:spAutoFit/>
          </a:bodyPr>
          <a:lstStyle/>
          <a:p>
            <a:pPr algn="ctr">
              <a:lnSpc>
                <a:spcPts val="4844"/>
              </a:lnSpc>
              <a:spcBef>
                <a:spcPct val="0"/>
              </a:spcBef>
            </a:pPr>
            <a:r>
              <a:rPr lang="en-US" sz="3460" spc="6">
                <a:solidFill>
                  <a:srgbClr val="FFFFFF"/>
                </a:solidFill>
                <a:latin typeface="Tex Gyre Bonum"/>
                <a:ea typeface="Tex Gyre Bonum"/>
                <a:cs typeface="Tex Gyre Bonum"/>
                <a:sym typeface="Tex Gyre Bonum"/>
              </a:rPr>
              <a:t>ENGINEERING CLINICS</a:t>
            </a:r>
          </a:p>
        </p:txBody>
      </p:sp>
      <p:sp>
        <p:nvSpPr>
          <p:cNvPr id="5" name="TextBox 5"/>
          <p:cNvSpPr txBox="1"/>
          <p:nvPr/>
        </p:nvSpPr>
        <p:spPr>
          <a:xfrm>
            <a:off x="6163985" y="6179527"/>
            <a:ext cx="5960031" cy="1397000"/>
          </a:xfrm>
          <a:prstGeom prst="rect">
            <a:avLst/>
          </a:prstGeom>
        </p:spPr>
        <p:txBody>
          <a:bodyPr lIns="0" tIns="0" rIns="0" bIns="0" rtlCol="0" anchor="t">
            <a:spAutoFit/>
          </a:bodyPr>
          <a:lstStyle/>
          <a:p>
            <a:pPr algn="ctr">
              <a:lnSpc>
                <a:spcPts val="2799"/>
              </a:lnSpc>
              <a:spcBef>
                <a:spcPct val="0"/>
              </a:spcBef>
            </a:pPr>
            <a:r>
              <a:rPr lang="en-US" sz="1999" b="1" spc="3">
                <a:solidFill>
                  <a:srgbClr val="FFFFFF"/>
                </a:solidFill>
                <a:latin typeface="Open Sauce Bold"/>
                <a:ea typeface="Open Sauce Bold"/>
                <a:cs typeface="Open Sauce Bold"/>
                <a:sym typeface="Open Sauce Bold"/>
              </a:rPr>
              <a:t>SUBMITTED BY:</a:t>
            </a:r>
          </a:p>
          <a:p>
            <a:pPr algn="ctr">
              <a:lnSpc>
                <a:spcPts val="2799"/>
              </a:lnSpc>
              <a:spcBef>
                <a:spcPct val="0"/>
              </a:spcBef>
            </a:pPr>
            <a:r>
              <a:rPr lang="en-US" sz="1999" b="1" spc="3">
                <a:solidFill>
                  <a:srgbClr val="FFFFFF"/>
                </a:solidFill>
                <a:latin typeface="Open Sauce Bold"/>
                <a:ea typeface="Open Sauce Bold"/>
                <a:cs typeface="Open Sauce Bold"/>
                <a:sym typeface="Open Sauce Bold"/>
              </a:rPr>
              <a:t>Armaan, Armaan Goswami, Arnav, Arpit Sharma</a:t>
            </a:r>
          </a:p>
          <a:p>
            <a:pPr algn="ctr">
              <a:lnSpc>
                <a:spcPts val="2799"/>
              </a:lnSpc>
              <a:spcBef>
                <a:spcPct val="0"/>
              </a:spcBef>
            </a:pPr>
            <a:r>
              <a:rPr lang="en-US" sz="1999" b="1" spc="3">
                <a:solidFill>
                  <a:srgbClr val="FFFFFF"/>
                </a:solidFill>
                <a:latin typeface="Open Sauce Bold"/>
                <a:ea typeface="Open Sauce Bold"/>
                <a:cs typeface="Open Sauce Bold"/>
                <a:sym typeface="Open Sauce Bold"/>
              </a:rPr>
              <a:t>2420673, 2420674, 2420675, 2420676</a:t>
            </a:r>
          </a:p>
          <a:p>
            <a:pPr algn="ctr">
              <a:lnSpc>
                <a:spcPts val="2799"/>
              </a:lnSpc>
              <a:spcBef>
                <a:spcPct val="0"/>
              </a:spcBef>
            </a:pPr>
            <a:endParaRPr lang="en-US" sz="1999" b="1" spc="3">
              <a:solidFill>
                <a:srgbClr val="FFFFFF"/>
              </a:solidFill>
              <a:latin typeface="Open Sauce Bold"/>
              <a:ea typeface="Open Sauce Bold"/>
              <a:cs typeface="Open Sauce Bold"/>
              <a:sym typeface="Open Sauce Bold"/>
            </a:endParaRPr>
          </a:p>
        </p:txBody>
      </p:sp>
      <p:sp>
        <p:nvSpPr>
          <p:cNvPr id="6" name="TextBox 6"/>
          <p:cNvSpPr txBox="1"/>
          <p:nvPr/>
        </p:nvSpPr>
        <p:spPr>
          <a:xfrm>
            <a:off x="7678638" y="7979230"/>
            <a:ext cx="2930723" cy="1044575"/>
          </a:xfrm>
          <a:prstGeom prst="rect">
            <a:avLst/>
          </a:prstGeom>
        </p:spPr>
        <p:txBody>
          <a:bodyPr lIns="0" tIns="0" rIns="0" bIns="0" rtlCol="0" anchor="t">
            <a:spAutoFit/>
          </a:bodyPr>
          <a:lstStyle/>
          <a:p>
            <a:pPr algn="ctr">
              <a:lnSpc>
                <a:spcPts val="2799"/>
              </a:lnSpc>
              <a:spcBef>
                <a:spcPct val="0"/>
              </a:spcBef>
            </a:pPr>
            <a:r>
              <a:rPr lang="en-US" sz="1999" b="1" spc="3">
                <a:solidFill>
                  <a:srgbClr val="FFFFFF"/>
                </a:solidFill>
                <a:latin typeface="Open Sauce Bold"/>
                <a:ea typeface="Open Sauce Bold"/>
                <a:cs typeface="Open Sauce Bold"/>
                <a:sym typeface="Open Sauce Bold"/>
              </a:rPr>
              <a:t>Under the Guidance of </a:t>
            </a:r>
          </a:p>
          <a:p>
            <a:pPr algn="ctr">
              <a:lnSpc>
                <a:spcPts val="2799"/>
              </a:lnSpc>
              <a:spcBef>
                <a:spcPct val="0"/>
              </a:spcBef>
            </a:pPr>
            <a:r>
              <a:rPr lang="en-US" sz="1999" b="1" spc="3">
                <a:solidFill>
                  <a:srgbClr val="FFFFFF"/>
                </a:solidFill>
                <a:latin typeface="Open Sauce Bold"/>
                <a:ea typeface="Open Sauce Bold"/>
                <a:cs typeface="Open Sauce Bold"/>
                <a:sym typeface="Open Sauce Bold"/>
              </a:rPr>
              <a:t>Shubham Sharma</a:t>
            </a:r>
          </a:p>
          <a:p>
            <a:pPr algn="ctr">
              <a:lnSpc>
                <a:spcPts val="2799"/>
              </a:lnSpc>
              <a:spcBef>
                <a:spcPct val="0"/>
              </a:spcBef>
            </a:pPr>
            <a:endParaRPr lang="en-US" sz="1999" b="1" spc="3">
              <a:solidFill>
                <a:srgbClr val="FFFFFF"/>
              </a:solidFill>
              <a:latin typeface="Open Sauce Bold"/>
              <a:ea typeface="Open Sauce Bold"/>
              <a:cs typeface="Open Sauce Bold"/>
              <a:sym typeface="Open Sauce Bold"/>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p:nvPr/>
        </p:nvGrpSpPr>
        <p:grpSpPr>
          <a:xfrm>
            <a:off x="15481179" y="576468"/>
            <a:ext cx="1919429" cy="566532"/>
            <a:chOff x="0" y="0"/>
            <a:chExt cx="505529" cy="149210"/>
          </a:xfrm>
        </p:grpSpPr>
        <p:sp>
          <p:nvSpPr>
            <p:cNvPr id="3" name="Freeform 3"/>
            <p:cNvSpPr/>
            <p:nvPr/>
          </p:nvSpPr>
          <p:spPr>
            <a:xfrm>
              <a:off x="0" y="0"/>
              <a:ext cx="505529" cy="149210"/>
            </a:xfrm>
            <a:custGeom>
              <a:avLst/>
              <a:gdLst/>
              <a:ahLst/>
              <a:cxnLst/>
              <a:rect l="l" t="t" r="r" b="b"/>
              <a:pathLst>
                <a:path w="505529" h="149210">
                  <a:moveTo>
                    <a:pt x="74605" y="0"/>
                  </a:moveTo>
                  <a:lnTo>
                    <a:pt x="430924" y="0"/>
                  </a:lnTo>
                  <a:cubicBezTo>
                    <a:pt x="472127" y="0"/>
                    <a:pt x="505529" y="33402"/>
                    <a:pt x="505529" y="74605"/>
                  </a:cubicBezTo>
                  <a:lnTo>
                    <a:pt x="505529" y="74605"/>
                  </a:lnTo>
                  <a:cubicBezTo>
                    <a:pt x="505529" y="115808"/>
                    <a:pt x="472127" y="149210"/>
                    <a:pt x="430924" y="149210"/>
                  </a:cubicBezTo>
                  <a:lnTo>
                    <a:pt x="74605" y="149210"/>
                  </a:lnTo>
                  <a:cubicBezTo>
                    <a:pt x="33402" y="149210"/>
                    <a:pt x="0" y="115808"/>
                    <a:pt x="0" y="74605"/>
                  </a:cubicBezTo>
                  <a:lnTo>
                    <a:pt x="0" y="74605"/>
                  </a:lnTo>
                  <a:cubicBezTo>
                    <a:pt x="0" y="33402"/>
                    <a:pt x="33402" y="0"/>
                    <a:pt x="74605" y="0"/>
                  </a:cubicBezTo>
                  <a:close/>
                </a:path>
              </a:pathLst>
            </a:custGeom>
            <a:gradFill rotWithShape="1">
              <a:gsLst>
                <a:gs pos="0">
                  <a:srgbClr val="7357FF">
                    <a:alpha val="100000"/>
                  </a:srgbClr>
                </a:gs>
                <a:gs pos="100000">
                  <a:srgbClr val="FCACFF">
                    <a:alpha val="100000"/>
                  </a:srgbClr>
                </a:gs>
              </a:gsLst>
              <a:lin ang="0"/>
            </a:gradFill>
          </p:spPr>
        </p:sp>
        <p:sp>
          <p:nvSpPr>
            <p:cNvPr id="4" name="TextBox 4"/>
            <p:cNvSpPr txBox="1"/>
            <p:nvPr/>
          </p:nvSpPr>
          <p:spPr>
            <a:xfrm>
              <a:off x="0" y="-38100"/>
              <a:ext cx="505529" cy="187310"/>
            </a:xfrm>
            <a:prstGeom prst="rect">
              <a:avLst/>
            </a:prstGeom>
          </p:spPr>
          <p:txBody>
            <a:bodyPr lIns="50800" tIns="50800" rIns="50800" bIns="50800" rtlCol="0" anchor="ctr"/>
            <a:lstStyle/>
            <a:p>
              <a:pPr algn="ctr">
                <a:lnSpc>
                  <a:spcPts val="2659"/>
                </a:lnSpc>
              </a:pPr>
              <a:endParaRPr/>
            </a:p>
          </p:txBody>
        </p:sp>
      </p:grpSp>
      <p:sp>
        <p:nvSpPr>
          <p:cNvPr id="5" name="Freeform 5"/>
          <p:cNvSpPr/>
          <p:nvPr/>
        </p:nvSpPr>
        <p:spPr>
          <a:xfrm rot="-5400000" flipH="1">
            <a:off x="9997172" y="2500334"/>
            <a:ext cx="9145756" cy="9162415"/>
          </a:xfrm>
          <a:custGeom>
            <a:avLst/>
            <a:gdLst/>
            <a:ahLst/>
            <a:cxnLst/>
            <a:rect l="l" t="t" r="r" b="b"/>
            <a:pathLst>
              <a:path w="9145756" h="9162415">
                <a:moveTo>
                  <a:pt x="9145757" y="0"/>
                </a:moveTo>
                <a:lnTo>
                  <a:pt x="0" y="0"/>
                </a:lnTo>
                <a:lnTo>
                  <a:pt x="0" y="9162415"/>
                </a:lnTo>
                <a:lnTo>
                  <a:pt x="9145757" y="9162415"/>
                </a:lnTo>
                <a:lnTo>
                  <a:pt x="9145757"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6" name="Freeform 6"/>
          <p:cNvSpPr/>
          <p:nvPr/>
        </p:nvSpPr>
        <p:spPr>
          <a:xfrm>
            <a:off x="3973885" y="-1414690"/>
            <a:ext cx="7672410" cy="7672410"/>
          </a:xfrm>
          <a:custGeom>
            <a:avLst/>
            <a:gdLst/>
            <a:ahLst/>
            <a:cxnLst/>
            <a:rect l="l" t="t" r="r" b="b"/>
            <a:pathLst>
              <a:path w="7672410" h="7672410">
                <a:moveTo>
                  <a:pt x="0" y="0"/>
                </a:moveTo>
                <a:lnTo>
                  <a:pt x="7672409" y="0"/>
                </a:lnTo>
                <a:lnTo>
                  <a:pt x="7672409" y="7672409"/>
                </a:lnTo>
                <a:lnTo>
                  <a:pt x="0" y="767240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7" name="TextBox 7"/>
          <p:cNvSpPr txBox="1"/>
          <p:nvPr/>
        </p:nvSpPr>
        <p:spPr>
          <a:xfrm>
            <a:off x="15730249" y="663200"/>
            <a:ext cx="1421291" cy="339725"/>
          </a:xfrm>
          <a:prstGeom prst="rect">
            <a:avLst/>
          </a:prstGeom>
        </p:spPr>
        <p:txBody>
          <a:bodyPr lIns="0" tIns="0" rIns="0" bIns="0" rtlCol="0" anchor="t">
            <a:spAutoFit/>
          </a:bodyPr>
          <a:lstStyle/>
          <a:p>
            <a:pPr algn="ctr">
              <a:lnSpc>
                <a:spcPts val="2799"/>
              </a:lnSpc>
              <a:spcBef>
                <a:spcPct val="0"/>
              </a:spcBef>
            </a:pPr>
            <a:r>
              <a:rPr lang="en-US" sz="1999" b="1" spc="3">
                <a:solidFill>
                  <a:srgbClr val="FFFFFF"/>
                </a:solidFill>
                <a:latin typeface="Open Sauce Bold"/>
                <a:ea typeface="Open Sauce Bold"/>
                <a:cs typeface="Open Sauce Bold"/>
                <a:sym typeface="Open Sauce Bold"/>
              </a:rPr>
              <a:t>Page 01</a:t>
            </a:r>
          </a:p>
        </p:txBody>
      </p:sp>
      <p:sp>
        <p:nvSpPr>
          <p:cNvPr id="8" name="TextBox 8"/>
          <p:cNvSpPr txBox="1"/>
          <p:nvPr/>
        </p:nvSpPr>
        <p:spPr>
          <a:xfrm>
            <a:off x="1703976" y="2584863"/>
            <a:ext cx="5741000" cy="986241"/>
          </a:xfrm>
          <a:prstGeom prst="rect">
            <a:avLst/>
          </a:prstGeom>
        </p:spPr>
        <p:txBody>
          <a:bodyPr lIns="0" tIns="0" rIns="0" bIns="0" rtlCol="0" anchor="t">
            <a:spAutoFit/>
          </a:bodyPr>
          <a:lstStyle/>
          <a:p>
            <a:pPr marL="0" lvl="0" indent="0" algn="just">
              <a:lnSpc>
                <a:spcPts val="7704"/>
              </a:lnSpc>
            </a:pPr>
            <a:r>
              <a:rPr lang="en-US" sz="6641" b="1" spc="-312">
                <a:solidFill>
                  <a:srgbClr val="FFFFFF"/>
                </a:solidFill>
                <a:latin typeface="Open Sauce Bold"/>
                <a:ea typeface="Open Sauce Bold"/>
                <a:cs typeface="Open Sauce Bold"/>
                <a:sym typeface="Open Sauce Bold"/>
              </a:rPr>
              <a:t>Parking </a:t>
            </a:r>
          </a:p>
        </p:txBody>
      </p:sp>
      <p:sp>
        <p:nvSpPr>
          <p:cNvPr id="9" name="TextBox 9"/>
          <p:cNvSpPr txBox="1"/>
          <p:nvPr/>
        </p:nvSpPr>
        <p:spPr>
          <a:xfrm>
            <a:off x="10017418" y="2527713"/>
            <a:ext cx="6530405" cy="3146778"/>
          </a:xfrm>
          <a:prstGeom prst="rect">
            <a:avLst/>
          </a:prstGeom>
        </p:spPr>
        <p:txBody>
          <a:bodyPr lIns="0" tIns="0" rIns="0" bIns="0" rtlCol="0" anchor="t">
            <a:spAutoFit/>
          </a:bodyPr>
          <a:lstStyle/>
          <a:p>
            <a:pPr algn="just">
              <a:lnSpc>
                <a:spcPts val="3157"/>
              </a:lnSpc>
              <a:spcBef>
                <a:spcPct val="0"/>
              </a:spcBef>
            </a:pPr>
            <a:r>
              <a:rPr lang="en-US" sz="2255" spc="4">
                <a:solidFill>
                  <a:srgbClr val="FFFFFF"/>
                </a:solidFill>
                <a:latin typeface="Open Sauce"/>
                <a:ea typeface="Open Sauce"/>
                <a:cs typeface="Open Sauce"/>
                <a:sym typeface="Open Sauce"/>
              </a:rPr>
              <a:t>WIth rapid urban growth, the number of vehicles on roads has increased significantly. In most cities, the parking infrastructure has not kept pace with the demand. Drivers often face difficulties in finding available parking slots. Traditional systems using paper slips or manual tokens are slow, error-prone, and inefficient.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Freeform 2"/>
          <p:cNvSpPr/>
          <p:nvPr/>
        </p:nvSpPr>
        <p:spPr>
          <a:xfrm rot="-5400000" flipH="1">
            <a:off x="7876765" y="319853"/>
            <a:ext cx="10458860" cy="10477911"/>
          </a:xfrm>
          <a:custGeom>
            <a:avLst/>
            <a:gdLst/>
            <a:ahLst/>
            <a:cxnLst/>
            <a:rect l="l" t="t" r="r" b="b"/>
            <a:pathLst>
              <a:path w="10458860" h="10477911">
                <a:moveTo>
                  <a:pt x="10458860" y="0"/>
                </a:moveTo>
                <a:lnTo>
                  <a:pt x="0" y="0"/>
                </a:lnTo>
                <a:lnTo>
                  <a:pt x="0" y="10477911"/>
                </a:lnTo>
                <a:lnTo>
                  <a:pt x="10458860" y="10477911"/>
                </a:lnTo>
                <a:lnTo>
                  <a:pt x="1045886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 name="Group 3"/>
          <p:cNvGrpSpPr/>
          <p:nvPr/>
        </p:nvGrpSpPr>
        <p:grpSpPr>
          <a:xfrm>
            <a:off x="15481179" y="576468"/>
            <a:ext cx="1919429" cy="566532"/>
            <a:chOff x="0" y="0"/>
            <a:chExt cx="505529" cy="149210"/>
          </a:xfrm>
        </p:grpSpPr>
        <p:sp>
          <p:nvSpPr>
            <p:cNvPr id="4" name="Freeform 4"/>
            <p:cNvSpPr/>
            <p:nvPr/>
          </p:nvSpPr>
          <p:spPr>
            <a:xfrm>
              <a:off x="0" y="0"/>
              <a:ext cx="505529" cy="149210"/>
            </a:xfrm>
            <a:custGeom>
              <a:avLst/>
              <a:gdLst/>
              <a:ahLst/>
              <a:cxnLst/>
              <a:rect l="l" t="t" r="r" b="b"/>
              <a:pathLst>
                <a:path w="505529" h="149210">
                  <a:moveTo>
                    <a:pt x="74605" y="0"/>
                  </a:moveTo>
                  <a:lnTo>
                    <a:pt x="430924" y="0"/>
                  </a:lnTo>
                  <a:cubicBezTo>
                    <a:pt x="472127" y="0"/>
                    <a:pt x="505529" y="33402"/>
                    <a:pt x="505529" y="74605"/>
                  </a:cubicBezTo>
                  <a:lnTo>
                    <a:pt x="505529" y="74605"/>
                  </a:lnTo>
                  <a:cubicBezTo>
                    <a:pt x="505529" y="115808"/>
                    <a:pt x="472127" y="149210"/>
                    <a:pt x="430924" y="149210"/>
                  </a:cubicBezTo>
                  <a:lnTo>
                    <a:pt x="74605" y="149210"/>
                  </a:lnTo>
                  <a:cubicBezTo>
                    <a:pt x="33402" y="149210"/>
                    <a:pt x="0" y="115808"/>
                    <a:pt x="0" y="74605"/>
                  </a:cubicBezTo>
                  <a:lnTo>
                    <a:pt x="0" y="74605"/>
                  </a:lnTo>
                  <a:cubicBezTo>
                    <a:pt x="0" y="33402"/>
                    <a:pt x="33402" y="0"/>
                    <a:pt x="74605" y="0"/>
                  </a:cubicBezTo>
                  <a:close/>
                </a:path>
              </a:pathLst>
            </a:custGeom>
            <a:gradFill rotWithShape="1">
              <a:gsLst>
                <a:gs pos="0">
                  <a:srgbClr val="7357FF">
                    <a:alpha val="100000"/>
                  </a:srgbClr>
                </a:gs>
                <a:gs pos="100000">
                  <a:srgbClr val="FCACFF">
                    <a:alpha val="100000"/>
                  </a:srgbClr>
                </a:gs>
              </a:gsLst>
              <a:lin ang="0"/>
            </a:gradFill>
          </p:spPr>
        </p:sp>
        <p:sp>
          <p:nvSpPr>
            <p:cNvPr id="5" name="TextBox 5"/>
            <p:cNvSpPr txBox="1"/>
            <p:nvPr/>
          </p:nvSpPr>
          <p:spPr>
            <a:xfrm>
              <a:off x="0" y="-38100"/>
              <a:ext cx="505529" cy="187310"/>
            </a:xfrm>
            <a:prstGeom prst="rect">
              <a:avLst/>
            </a:prstGeom>
          </p:spPr>
          <p:txBody>
            <a:bodyPr lIns="50800" tIns="50800" rIns="50800" bIns="50800" rtlCol="0" anchor="ctr"/>
            <a:lstStyle/>
            <a:p>
              <a:pPr algn="ctr">
                <a:lnSpc>
                  <a:spcPts val="2659"/>
                </a:lnSpc>
              </a:pPr>
              <a:endParaRPr/>
            </a:p>
          </p:txBody>
        </p:sp>
      </p:grpSp>
      <p:sp>
        <p:nvSpPr>
          <p:cNvPr id="6" name="Freeform 6"/>
          <p:cNvSpPr/>
          <p:nvPr/>
        </p:nvSpPr>
        <p:spPr>
          <a:xfrm flipH="1" flipV="1">
            <a:off x="1028700" y="1970882"/>
            <a:ext cx="2750861" cy="2750861"/>
          </a:xfrm>
          <a:custGeom>
            <a:avLst/>
            <a:gdLst/>
            <a:ahLst/>
            <a:cxnLst/>
            <a:rect l="l" t="t" r="r" b="b"/>
            <a:pathLst>
              <a:path w="2750861" h="2750861">
                <a:moveTo>
                  <a:pt x="2750861" y="2750861"/>
                </a:moveTo>
                <a:lnTo>
                  <a:pt x="0" y="2750861"/>
                </a:lnTo>
                <a:lnTo>
                  <a:pt x="0" y="0"/>
                </a:lnTo>
                <a:lnTo>
                  <a:pt x="2750861" y="0"/>
                </a:lnTo>
                <a:lnTo>
                  <a:pt x="2750861" y="2750861"/>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7" name="TextBox 7"/>
          <p:cNvSpPr txBox="1"/>
          <p:nvPr/>
        </p:nvSpPr>
        <p:spPr>
          <a:xfrm>
            <a:off x="15730249" y="663200"/>
            <a:ext cx="1421291" cy="339725"/>
          </a:xfrm>
          <a:prstGeom prst="rect">
            <a:avLst/>
          </a:prstGeom>
        </p:spPr>
        <p:txBody>
          <a:bodyPr lIns="0" tIns="0" rIns="0" bIns="0" rtlCol="0" anchor="t">
            <a:spAutoFit/>
          </a:bodyPr>
          <a:lstStyle/>
          <a:p>
            <a:pPr algn="ctr">
              <a:lnSpc>
                <a:spcPts val="2799"/>
              </a:lnSpc>
              <a:spcBef>
                <a:spcPct val="0"/>
              </a:spcBef>
            </a:pPr>
            <a:r>
              <a:rPr lang="en-US" sz="1999" b="1" spc="3">
                <a:solidFill>
                  <a:srgbClr val="FFFFFF"/>
                </a:solidFill>
                <a:latin typeface="Open Sauce Bold"/>
                <a:ea typeface="Open Sauce Bold"/>
                <a:cs typeface="Open Sauce Bold"/>
                <a:sym typeface="Open Sauce Bold"/>
              </a:rPr>
              <a:t>Page 02</a:t>
            </a:r>
          </a:p>
        </p:txBody>
      </p:sp>
      <p:sp>
        <p:nvSpPr>
          <p:cNvPr id="8" name="TextBox 8"/>
          <p:cNvSpPr txBox="1"/>
          <p:nvPr/>
        </p:nvSpPr>
        <p:spPr>
          <a:xfrm>
            <a:off x="8938504" y="1932782"/>
            <a:ext cx="6791745" cy="4924119"/>
          </a:xfrm>
          <a:prstGeom prst="rect">
            <a:avLst/>
          </a:prstGeom>
        </p:spPr>
        <p:txBody>
          <a:bodyPr lIns="0" tIns="0" rIns="0" bIns="0" rtlCol="0" anchor="t">
            <a:spAutoFit/>
          </a:bodyPr>
          <a:lstStyle/>
          <a:p>
            <a:pPr algn="just">
              <a:lnSpc>
                <a:spcPts val="3591"/>
              </a:lnSpc>
            </a:pPr>
            <a:r>
              <a:rPr lang="en-US" sz="2565" b="1" spc="5">
                <a:solidFill>
                  <a:srgbClr val="FFFFFF"/>
                </a:solidFill>
                <a:latin typeface="Open Sauce Bold"/>
                <a:ea typeface="Open Sauce Bold"/>
                <a:cs typeface="Open Sauce Bold"/>
                <a:sym typeface="Open Sauce Bold"/>
              </a:rPr>
              <a:t>-Traffic Congestion:</a:t>
            </a:r>
            <a:r>
              <a:rPr lang="en-US" sz="2565" spc="5">
                <a:solidFill>
                  <a:srgbClr val="FFFFFF"/>
                </a:solidFill>
                <a:latin typeface="Open Sauce"/>
                <a:ea typeface="Open Sauce"/>
                <a:cs typeface="Open Sauce"/>
                <a:sym typeface="Open Sauce"/>
              </a:rPr>
              <a:t> Upto 30% of city traffic caused by vehicles searching for parking.</a:t>
            </a:r>
          </a:p>
          <a:p>
            <a:pPr algn="just">
              <a:lnSpc>
                <a:spcPts val="3591"/>
              </a:lnSpc>
            </a:pPr>
            <a:r>
              <a:rPr lang="en-US" sz="2565" b="1" spc="5">
                <a:solidFill>
                  <a:srgbClr val="FFFFFF"/>
                </a:solidFill>
                <a:latin typeface="Open Sauce Bold"/>
                <a:ea typeface="Open Sauce Bold"/>
                <a:cs typeface="Open Sauce Bold"/>
                <a:sym typeface="Open Sauce Bold"/>
              </a:rPr>
              <a:t>-Fuel Wastage: Co</a:t>
            </a:r>
            <a:r>
              <a:rPr lang="en-US" sz="2565" spc="5">
                <a:solidFill>
                  <a:srgbClr val="FFFFFF"/>
                </a:solidFill>
                <a:latin typeface="Open Sauce"/>
                <a:ea typeface="Open Sauce"/>
                <a:cs typeface="Open Sauce"/>
                <a:sym typeface="Open Sauce"/>
              </a:rPr>
              <a:t>ntinuous cruising leads to unnecessary fuel burn.</a:t>
            </a:r>
          </a:p>
          <a:p>
            <a:pPr algn="just">
              <a:lnSpc>
                <a:spcPts val="3591"/>
              </a:lnSpc>
            </a:pPr>
            <a:r>
              <a:rPr lang="en-US" sz="2565" b="1" spc="5">
                <a:solidFill>
                  <a:srgbClr val="FFFFFF"/>
                </a:solidFill>
                <a:latin typeface="Open Sauce Bold"/>
                <a:ea typeface="Open Sauce Bold"/>
                <a:cs typeface="Open Sauce Bold"/>
                <a:sym typeface="Open Sauce Bold"/>
              </a:rPr>
              <a:t>-Air Quality:</a:t>
            </a:r>
            <a:r>
              <a:rPr lang="en-US" sz="2565" spc="5">
                <a:solidFill>
                  <a:srgbClr val="FFFFFF"/>
                </a:solidFill>
                <a:latin typeface="Open Sauce"/>
                <a:ea typeface="Open Sauce"/>
                <a:cs typeface="Open Sauce"/>
                <a:sym typeface="Open Sauce"/>
              </a:rPr>
              <a:t> Increased emission worsen air quality.</a:t>
            </a:r>
          </a:p>
          <a:p>
            <a:pPr algn="just">
              <a:lnSpc>
                <a:spcPts val="3591"/>
              </a:lnSpc>
            </a:pPr>
            <a:r>
              <a:rPr lang="en-US" sz="2565" b="1" spc="5">
                <a:solidFill>
                  <a:srgbClr val="FFFFFF"/>
                </a:solidFill>
                <a:latin typeface="Open Sauce Bold"/>
                <a:ea typeface="Open Sauce Bold"/>
                <a:cs typeface="Open Sauce Bold"/>
                <a:sym typeface="Open Sauce Bold"/>
              </a:rPr>
              <a:t>-Driver stress: </a:t>
            </a:r>
            <a:r>
              <a:rPr lang="en-US" sz="2565" spc="5">
                <a:solidFill>
                  <a:srgbClr val="FFFFFF"/>
                </a:solidFill>
                <a:latin typeface="Open Sauce"/>
                <a:ea typeface="Open Sauce"/>
                <a:cs typeface="Open Sauce"/>
                <a:sym typeface="Open Sauce"/>
              </a:rPr>
              <a:t>Difficulty in finding slots causes frustation.</a:t>
            </a:r>
          </a:p>
          <a:p>
            <a:pPr algn="just">
              <a:lnSpc>
                <a:spcPts val="3591"/>
              </a:lnSpc>
              <a:spcBef>
                <a:spcPct val="0"/>
              </a:spcBef>
            </a:pPr>
            <a:r>
              <a:rPr lang="en-US" sz="2565" b="1" spc="5">
                <a:solidFill>
                  <a:srgbClr val="FFFFFF"/>
                </a:solidFill>
                <a:latin typeface="Open Sauce Bold"/>
                <a:ea typeface="Open Sauce Bold"/>
                <a:cs typeface="Open Sauce Bold"/>
                <a:sym typeface="Open Sauce Bold"/>
              </a:rPr>
              <a:t>-Inefficiency: </a:t>
            </a:r>
            <a:r>
              <a:rPr lang="en-US" sz="2565" spc="5">
                <a:solidFill>
                  <a:srgbClr val="FFFFFF"/>
                </a:solidFill>
                <a:latin typeface="Open Sauce"/>
                <a:ea typeface="Open Sauce"/>
                <a:cs typeface="Open Sauce"/>
                <a:sym typeface="Open Sauce"/>
              </a:rPr>
              <a:t>Manual slips/tokens slow down entry/exit.</a:t>
            </a:r>
          </a:p>
        </p:txBody>
      </p:sp>
      <p:sp>
        <p:nvSpPr>
          <p:cNvPr id="9" name="TextBox 9"/>
          <p:cNvSpPr txBox="1"/>
          <p:nvPr/>
        </p:nvSpPr>
        <p:spPr>
          <a:xfrm>
            <a:off x="1856376" y="2635028"/>
            <a:ext cx="5152572" cy="720725"/>
          </a:xfrm>
          <a:prstGeom prst="rect">
            <a:avLst/>
          </a:prstGeom>
        </p:spPr>
        <p:txBody>
          <a:bodyPr lIns="0" tIns="0" rIns="0" bIns="0" rtlCol="0" anchor="t">
            <a:spAutoFit/>
          </a:bodyPr>
          <a:lstStyle/>
          <a:p>
            <a:pPr marL="0" lvl="0" indent="0" algn="just">
              <a:lnSpc>
                <a:spcPts val="5500"/>
              </a:lnSpc>
            </a:pPr>
            <a:r>
              <a:rPr lang="en-US" sz="5000" b="1" spc="10">
                <a:solidFill>
                  <a:srgbClr val="FFFFFF"/>
                </a:solidFill>
                <a:latin typeface="Open Sauce Bold"/>
                <a:ea typeface="Open Sauce Bold"/>
                <a:cs typeface="Open Sauce Bold"/>
                <a:sym typeface="Open Sauce Bold"/>
              </a:rPr>
              <a:t>IMPACTS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Freeform 2"/>
          <p:cNvSpPr/>
          <p:nvPr/>
        </p:nvSpPr>
        <p:spPr>
          <a:xfrm rot="-5400000" flipH="1">
            <a:off x="11978867" y="570112"/>
            <a:ext cx="6979048" cy="6991760"/>
          </a:xfrm>
          <a:custGeom>
            <a:avLst/>
            <a:gdLst/>
            <a:ahLst/>
            <a:cxnLst/>
            <a:rect l="l" t="t" r="r" b="b"/>
            <a:pathLst>
              <a:path w="6979048" h="6991760">
                <a:moveTo>
                  <a:pt x="6979048" y="0"/>
                </a:moveTo>
                <a:lnTo>
                  <a:pt x="0" y="0"/>
                </a:lnTo>
                <a:lnTo>
                  <a:pt x="0" y="6991760"/>
                </a:lnTo>
                <a:lnTo>
                  <a:pt x="6979048" y="6991760"/>
                </a:lnTo>
                <a:lnTo>
                  <a:pt x="6979048"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 name="Group 3"/>
          <p:cNvGrpSpPr/>
          <p:nvPr/>
        </p:nvGrpSpPr>
        <p:grpSpPr>
          <a:xfrm>
            <a:off x="15481179" y="576468"/>
            <a:ext cx="1919429" cy="566532"/>
            <a:chOff x="0" y="0"/>
            <a:chExt cx="505529" cy="149210"/>
          </a:xfrm>
        </p:grpSpPr>
        <p:sp>
          <p:nvSpPr>
            <p:cNvPr id="4" name="Freeform 4"/>
            <p:cNvSpPr/>
            <p:nvPr/>
          </p:nvSpPr>
          <p:spPr>
            <a:xfrm>
              <a:off x="0" y="0"/>
              <a:ext cx="505529" cy="149210"/>
            </a:xfrm>
            <a:custGeom>
              <a:avLst/>
              <a:gdLst/>
              <a:ahLst/>
              <a:cxnLst/>
              <a:rect l="l" t="t" r="r" b="b"/>
              <a:pathLst>
                <a:path w="505529" h="149210">
                  <a:moveTo>
                    <a:pt x="74605" y="0"/>
                  </a:moveTo>
                  <a:lnTo>
                    <a:pt x="430924" y="0"/>
                  </a:lnTo>
                  <a:cubicBezTo>
                    <a:pt x="472127" y="0"/>
                    <a:pt x="505529" y="33402"/>
                    <a:pt x="505529" y="74605"/>
                  </a:cubicBezTo>
                  <a:lnTo>
                    <a:pt x="505529" y="74605"/>
                  </a:lnTo>
                  <a:cubicBezTo>
                    <a:pt x="505529" y="115808"/>
                    <a:pt x="472127" y="149210"/>
                    <a:pt x="430924" y="149210"/>
                  </a:cubicBezTo>
                  <a:lnTo>
                    <a:pt x="74605" y="149210"/>
                  </a:lnTo>
                  <a:cubicBezTo>
                    <a:pt x="33402" y="149210"/>
                    <a:pt x="0" y="115808"/>
                    <a:pt x="0" y="74605"/>
                  </a:cubicBezTo>
                  <a:lnTo>
                    <a:pt x="0" y="74605"/>
                  </a:lnTo>
                  <a:cubicBezTo>
                    <a:pt x="0" y="33402"/>
                    <a:pt x="33402" y="0"/>
                    <a:pt x="74605" y="0"/>
                  </a:cubicBezTo>
                  <a:close/>
                </a:path>
              </a:pathLst>
            </a:custGeom>
            <a:gradFill rotWithShape="1">
              <a:gsLst>
                <a:gs pos="0">
                  <a:srgbClr val="7357FF">
                    <a:alpha val="100000"/>
                  </a:srgbClr>
                </a:gs>
                <a:gs pos="100000">
                  <a:srgbClr val="FCACFF">
                    <a:alpha val="100000"/>
                  </a:srgbClr>
                </a:gs>
              </a:gsLst>
              <a:lin ang="0"/>
            </a:gradFill>
          </p:spPr>
        </p:sp>
        <p:sp>
          <p:nvSpPr>
            <p:cNvPr id="5" name="TextBox 5"/>
            <p:cNvSpPr txBox="1"/>
            <p:nvPr/>
          </p:nvSpPr>
          <p:spPr>
            <a:xfrm>
              <a:off x="0" y="-38100"/>
              <a:ext cx="505529" cy="187310"/>
            </a:xfrm>
            <a:prstGeom prst="rect">
              <a:avLst/>
            </a:prstGeom>
          </p:spPr>
          <p:txBody>
            <a:bodyPr lIns="50800" tIns="50800" rIns="50800" bIns="50800" rtlCol="0" anchor="ctr"/>
            <a:lstStyle/>
            <a:p>
              <a:pPr algn="ctr">
                <a:lnSpc>
                  <a:spcPts val="2659"/>
                </a:lnSpc>
              </a:pPr>
              <a:endParaRPr/>
            </a:p>
          </p:txBody>
        </p:sp>
      </p:grpSp>
      <p:sp>
        <p:nvSpPr>
          <p:cNvPr id="6" name="Freeform 6"/>
          <p:cNvSpPr/>
          <p:nvPr/>
        </p:nvSpPr>
        <p:spPr>
          <a:xfrm>
            <a:off x="5423701" y="4494954"/>
            <a:ext cx="1432847" cy="1432847"/>
          </a:xfrm>
          <a:custGeom>
            <a:avLst/>
            <a:gdLst/>
            <a:ahLst/>
            <a:cxnLst/>
            <a:rect l="l" t="t" r="r" b="b"/>
            <a:pathLst>
              <a:path w="1432847" h="1432847">
                <a:moveTo>
                  <a:pt x="0" y="0"/>
                </a:moveTo>
                <a:lnTo>
                  <a:pt x="1432847" y="0"/>
                </a:lnTo>
                <a:lnTo>
                  <a:pt x="1432847" y="1432848"/>
                </a:lnTo>
                <a:lnTo>
                  <a:pt x="0" y="143284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7" name="Freeform 7"/>
          <p:cNvSpPr/>
          <p:nvPr/>
        </p:nvSpPr>
        <p:spPr>
          <a:xfrm flipV="1">
            <a:off x="1025014" y="4494954"/>
            <a:ext cx="2750861" cy="2750861"/>
          </a:xfrm>
          <a:custGeom>
            <a:avLst/>
            <a:gdLst/>
            <a:ahLst/>
            <a:cxnLst/>
            <a:rect l="l" t="t" r="r" b="b"/>
            <a:pathLst>
              <a:path w="2750861" h="2750861">
                <a:moveTo>
                  <a:pt x="0" y="2750862"/>
                </a:moveTo>
                <a:lnTo>
                  <a:pt x="2750862" y="2750862"/>
                </a:lnTo>
                <a:lnTo>
                  <a:pt x="2750862" y="0"/>
                </a:lnTo>
                <a:lnTo>
                  <a:pt x="0" y="0"/>
                </a:lnTo>
                <a:lnTo>
                  <a:pt x="0" y="2750862"/>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8" name="TextBox 8"/>
          <p:cNvSpPr txBox="1"/>
          <p:nvPr/>
        </p:nvSpPr>
        <p:spPr>
          <a:xfrm>
            <a:off x="15739774" y="650878"/>
            <a:ext cx="1421291" cy="339725"/>
          </a:xfrm>
          <a:prstGeom prst="rect">
            <a:avLst/>
          </a:prstGeom>
        </p:spPr>
        <p:txBody>
          <a:bodyPr lIns="0" tIns="0" rIns="0" bIns="0" rtlCol="0" anchor="t">
            <a:spAutoFit/>
          </a:bodyPr>
          <a:lstStyle/>
          <a:p>
            <a:pPr algn="ctr">
              <a:lnSpc>
                <a:spcPts val="2799"/>
              </a:lnSpc>
              <a:spcBef>
                <a:spcPct val="0"/>
              </a:spcBef>
            </a:pPr>
            <a:r>
              <a:rPr lang="en-US" sz="1999" b="1" spc="3">
                <a:solidFill>
                  <a:srgbClr val="FFFFFF"/>
                </a:solidFill>
                <a:latin typeface="Open Sauce Bold"/>
                <a:ea typeface="Open Sauce Bold"/>
                <a:cs typeface="Open Sauce Bold"/>
                <a:sym typeface="Open Sauce Bold"/>
              </a:rPr>
              <a:t>Page 03</a:t>
            </a:r>
          </a:p>
        </p:txBody>
      </p:sp>
      <p:sp>
        <p:nvSpPr>
          <p:cNvPr id="9" name="TextBox 9"/>
          <p:cNvSpPr txBox="1"/>
          <p:nvPr/>
        </p:nvSpPr>
        <p:spPr>
          <a:xfrm>
            <a:off x="9564171" y="1365663"/>
            <a:ext cx="7333485" cy="4021189"/>
          </a:xfrm>
          <a:prstGeom prst="rect">
            <a:avLst/>
          </a:prstGeom>
        </p:spPr>
        <p:txBody>
          <a:bodyPr lIns="0" tIns="0" rIns="0" bIns="0" rtlCol="0" anchor="t">
            <a:spAutoFit/>
          </a:bodyPr>
          <a:lstStyle/>
          <a:p>
            <a:pPr algn="just">
              <a:lnSpc>
                <a:spcPts val="3224"/>
              </a:lnSpc>
              <a:spcBef>
                <a:spcPct val="0"/>
              </a:spcBef>
            </a:pPr>
            <a:r>
              <a:rPr lang="en-US" sz="2303" spc="4" dirty="0">
                <a:solidFill>
                  <a:srgbClr val="FFFFFF"/>
                </a:solidFill>
                <a:latin typeface="Open Sauce"/>
                <a:ea typeface="Open Sauce"/>
                <a:cs typeface="Open Sauce"/>
                <a:sym typeface="Open Sauce"/>
              </a:rPr>
              <a:t>Such systems can provide real-time slot availability, automate vehicle entry and exit, reduce human effort, and improve overall urban mobility. Collecting parking data, processes it, and updates slot availability instantly, displays available slots. Reduces time spent searching for parking. Minimizes unnecessary fuel consumption and emissions. The system can be extended to </a:t>
            </a:r>
            <a:r>
              <a:rPr lang="en-US" sz="2303" spc="4" dirty="0" err="1">
                <a:solidFill>
                  <a:srgbClr val="FFFFFF"/>
                </a:solidFill>
                <a:latin typeface="Open Sauce"/>
                <a:ea typeface="Open Sauce"/>
                <a:cs typeface="Open Sauce"/>
                <a:sym typeface="Open Sauce"/>
              </a:rPr>
              <a:t>mutliple</a:t>
            </a:r>
            <a:r>
              <a:rPr lang="en-US" sz="2303" spc="4" dirty="0">
                <a:solidFill>
                  <a:srgbClr val="FFFFFF"/>
                </a:solidFill>
                <a:latin typeface="Open Sauce"/>
                <a:ea typeface="Open Sauce"/>
                <a:cs typeface="Open Sauce"/>
                <a:sym typeface="Open Sauce"/>
              </a:rPr>
              <a:t> parking lots across the city, integrated with smart city infrastructure.</a:t>
            </a:r>
          </a:p>
        </p:txBody>
      </p:sp>
      <p:sp>
        <p:nvSpPr>
          <p:cNvPr id="10" name="TextBox 10"/>
          <p:cNvSpPr txBox="1"/>
          <p:nvPr/>
        </p:nvSpPr>
        <p:spPr>
          <a:xfrm>
            <a:off x="1703976" y="2577878"/>
            <a:ext cx="5152572" cy="2111375"/>
          </a:xfrm>
          <a:prstGeom prst="rect">
            <a:avLst/>
          </a:prstGeom>
        </p:spPr>
        <p:txBody>
          <a:bodyPr lIns="0" tIns="0" rIns="0" bIns="0" rtlCol="0" anchor="t">
            <a:spAutoFit/>
          </a:bodyPr>
          <a:lstStyle/>
          <a:p>
            <a:pPr marL="0" lvl="0" indent="0" algn="just">
              <a:lnSpc>
                <a:spcPts val="5500"/>
              </a:lnSpc>
            </a:pPr>
            <a:r>
              <a:rPr lang="en-US" sz="5000" b="1" spc="10">
                <a:solidFill>
                  <a:srgbClr val="FFFFFF"/>
                </a:solidFill>
                <a:latin typeface="Open Sauce Bold"/>
                <a:ea typeface="Open Sauce Bold"/>
                <a:cs typeface="Open Sauce Bold"/>
                <a:sym typeface="Open Sauce Bold"/>
              </a:rPr>
              <a:t>PARKING SLOT AVAILABILITY APP</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p:nvPr/>
        </p:nvGrpSpPr>
        <p:grpSpPr>
          <a:xfrm>
            <a:off x="15481179" y="576468"/>
            <a:ext cx="1919429" cy="566532"/>
            <a:chOff x="0" y="0"/>
            <a:chExt cx="505529" cy="149210"/>
          </a:xfrm>
        </p:grpSpPr>
        <p:sp>
          <p:nvSpPr>
            <p:cNvPr id="3" name="Freeform 3"/>
            <p:cNvSpPr/>
            <p:nvPr/>
          </p:nvSpPr>
          <p:spPr>
            <a:xfrm>
              <a:off x="0" y="0"/>
              <a:ext cx="505529" cy="149210"/>
            </a:xfrm>
            <a:custGeom>
              <a:avLst/>
              <a:gdLst/>
              <a:ahLst/>
              <a:cxnLst/>
              <a:rect l="l" t="t" r="r" b="b"/>
              <a:pathLst>
                <a:path w="505529" h="149210">
                  <a:moveTo>
                    <a:pt x="74605" y="0"/>
                  </a:moveTo>
                  <a:lnTo>
                    <a:pt x="430924" y="0"/>
                  </a:lnTo>
                  <a:cubicBezTo>
                    <a:pt x="472127" y="0"/>
                    <a:pt x="505529" y="33402"/>
                    <a:pt x="505529" y="74605"/>
                  </a:cubicBezTo>
                  <a:lnTo>
                    <a:pt x="505529" y="74605"/>
                  </a:lnTo>
                  <a:cubicBezTo>
                    <a:pt x="505529" y="115808"/>
                    <a:pt x="472127" y="149210"/>
                    <a:pt x="430924" y="149210"/>
                  </a:cubicBezTo>
                  <a:lnTo>
                    <a:pt x="74605" y="149210"/>
                  </a:lnTo>
                  <a:cubicBezTo>
                    <a:pt x="33402" y="149210"/>
                    <a:pt x="0" y="115808"/>
                    <a:pt x="0" y="74605"/>
                  </a:cubicBezTo>
                  <a:lnTo>
                    <a:pt x="0" y="74605"/>
                  </a:lnTo>
                  <a:cubicBezTo>
                    <a:pt x="0" y="33402"/>
                    <a:pt x="33402" y="0"/>
                    <a:pt x="74605" y="0"/>
                  </a:cubicBezTo>
                  <a:close/>
                </a:path>
              </a:pathLst>
            </a:custGeom>
            <a:gradFill rotWithShape="1">
              <a:gsLst>
                <a:gs pos="0">
                  <a:srgbClr val="7357FF">
                    <a:alpha val="100000"/>
                  </a:srgbClr>
                </a:gs>
                <a:gs pos="100000">
                  <a:srgbClr val="FCACFF">
                    <a:alpha val="100000"/>
                  </a:srgbClr>
                </a:gs>
              </a:gsLst>
              <a:lin ang="0"/>
            </a:gradFill>
          </p:spPr>
        </p:sp>
        <p:sp>
          <p:nvSpPr>
            <p:cNvPr id="4" name="TextBox 4"/>
            <p:cNvSpPr txBox="1"/>
            <p:nvPr/>
          </p:nvSpPr>
          <p:spPr>
            <a:xfrm>
              <a:off x="0" y="-38100"/>
              <a:ext cx="505529" cy="187310"/>
            </a:xfrm>
            <a:prstGeom prst="rect">
              <a:avLst/>
            </a:prstGeom>
          </p:spPr>
          <p:txBody>
            <a:bodyPr lIns="50800" tIns="50800" rIns="50800" bIns="50800" rtlCol="0" anchor="ctr"/>
            <a:lstStyle/>
            <a:p>
              <a:pPr algn="ctr">
                <a:lnSpc>
                  <a:spcPts val="2659"/>
                </a:lnSpc>
              </a:pPr>
              <a:endParaRPr/>
            </a:p>
          </p:txBody>
        </p:sp>
      </p:grpSp>
      <p:sp>
        <p:nvSpPr>
          <p:cNvPr id="5" name="Freeform 5"/>
          <p:cNvSpPr/>
          <p:nvPr/>
        </p:nvSpPr>
        <p:spPr>
          <a:xfrm rot="-5400000" flipH="1">
            <a:off x="9997172" y="2500334"/>
            <a:ext cx="9145756" cy="9162415"/>
          </a:xfrm>
          <a:custGeom>
            <a:avLst/>
            <a:gdLst/>
            <a:ahLst/>
            <a:cxnLst/>
            <a:rect l="l" t="t" r="r" b="b"/>
            <a:pathLst>
              <a:path w="9145756" h="9162415">
                <a:moveTo>
                  <a:pt x="9145757" y="0"/>
                </a:moveTo>
                <a:lnTo>
                  <a:pt x="0" y="0"/>
                </a:lnTo>
                <a:lnTo>
                  <a:pt x="0" y="9162415"/>
                </a:lnTo>
                <a:lnTo>
                  <a:pt x="9145757" y="9162415"/>
                </a:lnTo>
                <a:lnTo>
                  <a:pt x="9145757"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6" name="Freeform 6"/>
          <p:cNvSpPr/>
          <p:nvPr/>
        </p:nvSpPr>
        <p:spPr>
          <a:xfrm>
            <a:off x="3973885" y="-1414690"/>
            <a:ext cx="7672410" cy="7672410"/>
          </a:xfrm>
          <a:custGeom>
            <a:avLst/>
            <a:gdLst/>
            <a:ahLst/>
            <a:cxnLst/>
            <a:rect l="l" t="t" r="r" b="b"/>
            <a:pathLst>
              <a:path w="7672410" h="7672410">
                <a:moveTo>
                  <a:pt x="0" y="0"/>
                </a:moveTo>
                <a:lnTo>
                  <a:pt x="7672409" y="0"/>
                </a:lnTo>
                <a:lnTo>
                  <a:pt x="7672409" y="7672409"/>
                </a:lnTo>
                <a:lnTo>
                  <a:pt x="0" y="767240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7" name="TextBox 7"/>
          <p:cNvSpPr txBox="1"/>
          <p:nvPr/>
        </p:nvSpPr>
        <p:spPr>
          <a:xfrm>
            <a:off x="15730249" y="663200"/>
            <a:ext cx="1421291" cy="339725"/>
          </a:xfrm>
          <a:prstGeom prst="rect">
            <a:avLst/>
          </a:prstGeom>
        </p:spPr>
        <p:txBody>
          <a:bodyPr lIns="0" tIns="0" rIns="0" bIns="0" rtlCol="0" anchor="t">
            <a:spAutoFit/>
          </a:bodyPr>
          <a:lstStyle/>
          <a:p>
            <a:pPr algn="ctr">
              <a:lnSpc>
                <a:spcPts val="2799"/>
              </a:lnSpc>
              <a:spcBef>
                <a:spcPct val="0"/>
              </a:spcBef>
            </a:pPr>
            <a:r>
              <a:rPr lang="en-US" sz="1999" b="1" spc="3">
                <a:solidFill>
                  <a:srgbClr val="FFFFFF"/>
                </a:solidFill>
                <a:latin typeface="Open Sauce Bold"/>
                <a:ea typeface="Open Sauce Bold"/>
                <a:cs typeface="Open Sauce Bold"/>
                <a:sym typeface="Open Sauce Bold"/>
              </a:rPr>
              <a:t>Page 04</a:t>
            </a:r>
          </a:p>
        </p:txBody>
      </p:sp>
      <p:sp>
        <p:nvSpPr>
          <p:cNvPr id="8" name="TextBox 8"/>
          <p:cNvSpPr txBox="1"/>
          <p:nvPr/>
        </p:nvSpPr>
        <p:spPr>
          <a:xfrm>
            <a:off x="1703976" y="2584863"/>
            <a:ext cx="5741000" cy="986241"/>
          </a:xfrm>
          <a:prstGeom prst="rect">
            <a:avLst/>
          </a:prstGeom>
        </p:spPr>
        <p:txBody>
          <a:bodyPr lIns="0" tIns="0" rIns="0" bIns="0" rtlCol="0" anchor="t">
            <a:spAutoFit/>
          </a:bodyPr>
          <a:lstStyle/>
          <a:p>
            <a:pPr marL="0" lvl="0" indent="0" algn="just">
              <a:lnSpc>
                <a:spcPts val="7704"/>
              </a:lnSpc>
            </a:pPr>
            <a:r>
              <a:rPr lang="en-US" sz="6641" b="1" spc="-312">
                <a:solidFill>
                  <a:srgbClr val="FFFFFF"/>
                </a:solidFill>
                <a:latin typeface="Open Sauce Bold"/>
                <a:ea typeface="Open Sauce Bold"/>
                <a:cs typeface="Open Sauce Bold"/>
                <a:sym typeface="Open Sauce Bold"/>
              </a:rPr>
              <a:t>IOT &amp;RFID</a:t>
            </a:r>
          </a:p>
        </p:txBody>
      </p:sp>
      <p:sp>
        <p:nvSpPr>
          <p:cNvPr id="9" name="TextBox 9"/>
          <p:cNvSpPr txBox="1"/>
          <p:nvPr/>
        </p:nvSpPr>
        <p:spPr>
          <a:xfrm>
            <a:off x="10158747" y="1362572"/>
            <a:ext cx="6530405" cy="7895728"/>
          </a:xfrm>
          <a:prstGeom prst="rect">
            <a:avLst/>
          </a:prstGeom>
        </p:spPr>
        <p:txBody>
          <a:bodyPr lIns="0" tIns="0" rIns="0" bIns="0" rtlCol="0" anchor="t">
            <a:spAutoFit/>
          </a:bodyPr>
          <a:lstStyle/>
          <a:p>
            <a:pPr algn="just">
              <a:lnSpc>
                <a:spcPts val="3157"/>
              </a:lnSpc>
            </a:pPr>
            <a:r>
              <a:rPr lang="en-US" sz="2255" spc="4">
                <a:solidFill>
                  <a:srgbClr val="FFFFFF"/>
                </a:solidFill>
                <a:latin typeface="Open Sauce"/>
                <a:ea typeface="Open Sauce"/>
                <a:cs typeface="Open Sauce"/>
                <a:sym typeface="Open Sauce"/>
              </a:rPr>
              <a:t>·IOT: Internet of Things, in other words it is a network of devices(physical) equipped with sensors and software that connects to the internet to collect and exchange of data with other devices and systems, which enables a smooth communication and automated actions with minimal human input.</a:t>
            </a:r>
          </a:p>
          <a:p>
            <a:pPr algn="just">
              <a:lnSpc>
                <a:spcPts val="3157"/>
              </a:lnSpc>
            </a:pPr>
            <a:endParaRPr lang="en-US" sz="2255" spc="4">
              <a:solidFill>
                <a:srgbClr val="FFFFFF"/>
              </a:solidFill>
              <a:latin typeface="Open Sauce"/>
              <a:ea typeface="Open Sauce"/>
              <a:cs typeface="Open Sauce"/>
              <a:sym typeface="Open Sauce"/>
            </a:endParaRPr>
          </a:p>
          <a:p>
            <a:pPr algn="just">
              <a:lnSpc>
                <a:spcPts val="3157"/>
              </a:lnSpc>
            </a:pPr>
            <a:r>
              <a:rPr lang="en-US" sz="2255" spc="4">
                <a:solidFill>
                  <a:srgbClr val="FFFFFF"/>
                </a:solidFill>
                <a:latin typeface="Open Sauce"/>
                <a:ea typeface="Open Sauce"/>
                <a:cs typeface="Open Sauce"/>
                <a:sym typeface="Open Sauce"/>
              </a:rPr>
              <a:t>·RFID: Radio Frequency Identification, a wireless technology that uses radio waves to automatically identify and track tags or “smart labels” attached to objects. An RFID</a:t>
            </a:r>
          </a:p>
          <a:p>
            <a:pPr algn="just">
              <a:lnSpc>
                <a:spcPts val="3157"/>
              </a:lnSpc>
            </a:pPr>
            <a:endParaRPr lang="en-US" sz="2255" spc="4">
              <a:solidFill>
                <a:srgbClr val="FFFFFF"/>
              </a:solidFill>
              <a:latin typeface="Open Sauce"/>
              <a:ea typeface="Open Sauce"/>
              <a:cs typeface="Open Sauce"/>
              <a:sym typeface="Open Sauce"/>
            </a:endParaRPr>
          </a:p>
          <a:p>
            <a:pPr algn="just">
              <a:lnSpc>
                <a:spcPts val="3157"/>
              </a:lnSpc>
              <a:spcBef>
                <a:spcPct val="0"/>
              </a:spcBef>
            </a:pPr>
            <a:r>
              <a:rPr lang="en-US" sz="2255" spc="4">
                <a:solidFill>
                  <a:srgbClr val="FFFFFF"/>
                </a:solidFill>
                <a:latin typeface="Open Sauce"/>
                <a:ea typeface="Open Sauce"/>
                <a:cs typeface="Open Sauce"/>
                <a:sym typeface="Open Sauce"/>
              </a:rPr>
              <a:t>System consists of a tag and a reader, which captures data encoded in the tag without needing a direct line of sight. Applications for RFID technology are widespread, including inventory and asset tracking, healthcare, manufacturing, logistics and retail.</a:t>
            </a:r>
          </a:p>
          <a:p>
            <a:pPr algn="just">
              <a:lnSpc>
                <a:spcPts val="3157"/>
              </a:lnSpc>
              <a:spcBef>
                <a:spcPct val="0"/>
              </a:spcBef>
            </a:pPr>
            <a:endParaRPr lang="en-US" sz="2255" spc="4">
              <a:solidFill>
                <a:srgbClr val="FFFFFF"/>
              </a:solidFill>
              <a:latin typeface="Open Sauce"/>
              <a:ea typeface="Open Sauce"/>
              <a:cs typeface="Open Sauce"/>
              <a:sym typeface="Open Sauce"/>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p:nvPr/>
        </p:nvGrpSpPr>
        <p:grpSpPr>
          <a:xfrm>
            <a:off x="15481179" y="576468"/>
            <a:ext cx="1919429" cy="566532"/>
            <a:chOff x="0" y="0"/>
            <a:chExt cx="505529" cy="149210"/>
          </a:xfrm>
        </p:grpSpPr>
        <p:sp>
          <p:nvSpPr>
            <p:cNvPr id="3" name="Freeform 3"/>
            <p:cNvSpPr/>
            <p:nvPr/>
          </p:nvSpPr>
          <p:spPr>
            <a:xfrm>
              <a:off x="0" y="0"/>
              <a:ext cx="505529" cy="149210"/>
            </a:xfrm>
            <a:custGeom>
              <a:avLst/>
              <a:gdLst/>
              <a:ahLst/>
              <a:cxnLst/>
              <a:rect l="l" t="t" r="r" b="b"/>
              <a:pathLst>
                <a:path w="505529" h="149210">
                  <a:moveTo>
                    <a:pt x="74605" y="0"/>
                  </a:moveTo>
                  <a:lnTo>
                    <a:pt x="430924" y="0"/>
                  </a:lnTo>
                  <a:cubicBezTo>
                    <a:pt x="472127" y="0"/>
                    <a:pt x="505529" y="33402"/>
                    <a:pt x="505529" y="74605"/>
                  </a:cubicBezTo>
                  <a:lnTo>
                    <a:pt x="505529" y="74605"/>
                  </a:lnTo>
                  <a:cubicBezTo>
                    <a:pt x="505529" y="115808"/>
                    <a:pt x="472127" y="149210"/>
                    <a:pt x="430924" y="149210"/>
                  </a:cubicBezTo>
                  <a:lnTo>
                    <a:pt x="74605" y="149210"/>
                  </a:lnTo>
                  <a:cubicBezTo>
                    <a:pt x="33402" y="149210"/>
                    <a:pt x="0" y="115808"/>
                    <a:pt x="0" y="74605"/>
                  </a:cubicBezTo>
                  <a:lnTo>
                    <a:pt x="0" y="74605"/>
                  </a:lnTo>
                  <a:cubicBezTo>
                    <a:pt x="0" y="33402"/>
                    <a:pt x="33402" y="0"/>
                    <a:pt x="74605" y="0"/>
                  </a:cubicBezTo>
                  <a:close/>
                </a:path>
              </a:pathLst>
            </a:custGeom>
            <a:gradFill rotWithShape="1">
              <a:gsLst>
                <a:gs pos="0">
                  <a:srgbClr val="7357FF">
                    <a:alpha val="100000"/>
                  </a:srgbClr>
                </a:gs>
                <a:gs pos="100000">
                  <a:srgbClr val="FCACFF">
                    <a:alpha val="100000"/>
                  </a:srgbClr>
                </a:gs>
              </a:gsLst>
              <a:lin ang="0"/>
            </a:gradFill>
          </p:spPr>
        </p:sp>
        <p:sp>
          <p:nvSpPr>
            <p:cNvPr id="4" name="TextBox 4"/>
            <p:cNvSpPr txBox="1"/>
            <p:nvPr/>
          </p:nvSpPr>
          <p:spPr>
            <a:xfrm>
              <a:off x="0" y="-38100"/>
              <a:ext cx="505529" cy="187310"/>
            </a:xfrm>
            <a:prstGeom prst="rect">
              <a:avLst/>
            </a:prstGeom>
          </p:spPr>
          <p:txBody>
            <a:bodyPr lIns="50800" tIns="50800" rIns="50800" bIns="50800" rtlCol="0" anchor="ctr"/>
            <a:lstStyle/>
            <a:p>
              <a:pPr algn="ctr">
                <a:lnSpc>
                  <a:spcPts val="2659"/>
                </a:lnSpc>
              </a:pPr>
              <a:endParaRPr/>
            </a:p>
          </p:txBody>
        </p:sp>
      </p:grpSp>
      <p:sp>
        <p:nvSpPr>
          <p:cNvPr id="5" name="Freeform 5"/>
          <p:cNvSpPr/>
          <p:nvPr/>
        </p:nvSpPr>
        <p:spPr>
          <a:xfrm rot="-5400000" flipV="1">
            <a:off x="-755771" y="-136158"/>
            <a:ext cx="8558066" cy="8573655"/>
          </a:xfrm>
          <a:custGeom>
            <a:avLst/>
            <a:gdLst/>
            <a:ahLst/>
            <a:cxnLst/>
            <a:rect l="l" t="t" r="r" b="b"/>
            <a:pathLst>
              <a:path w="8558066" h="8573655">
                <a:moveTo>
                  <a:pt x="0" y="8573655"/>
                </a:moveTo>
                <a:lnTo>
                  <a:pt x="8558066" y="8573655"/>
                </a:lnTo>
                <a:lnTo>
                  <a:pt x="8558066" y="0"/>
                </a:lnTo>
                <a:lnTo>
                  <a:pt x="0" y="0"/>
                </a:lnTo>
                <a:lnTo>
                  <a:pt x="0" y="8573655"/>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6" name="TextBox 6"/>
          <p:cNvSpPr txBox="1"/>
          <p:nvPr/>
        </p:nvSpPr>
        <p:spPr>
          <a:xfrm>
            <a:off x="15730249" y="663200"/>
            <a:ext cx="1421291" cy="339725"/>
          </a:xfrm>
          <a:prstGeom prst="rect">
            <a:avLst/>
          </a:prstGeom>
        </p:spPr>
        <p:txBody>
          <a:bodyPr lIns="0" tIns="0" rIns="0" bIns="0" rtlCol="0" anchor="t">
            <a:spAutoFit/>
          </a:bodyPr>
          <a:lstStyle/>
          <a:p>
            <a:pPr algn="ctr">
              <a:lnSpc>
                <a:spcPts val="2799"/>
              </a:lnSpc>
              <a:spcBef>
                <a:spcPct val="0"/>
              </a:spcBef>
            </a:pPr>
            <a:r>
              <a:rPr lang="en-US" sz="1999" b="1" spc="3">
                <a:solidFill>
                  <a:srgbClr val="FFFFFF"/>
                </a:solidFill>
                <a:latin typeface="Open Sauce Bold"/>
                <a:ea typeface="Open Sauce Bold"/>
                <a:cs typeface="Open Sauce Bold"/>
                <a:sym typeface="Open Sauce Bold"/>
              </a:rPr>
              <a:t>Page 05</a:t>
            </a:r>
          </a:p>
        </p:txBody>
      </p:sp>
      <p:sp>
        <p:nvSpPr>
          <p:cNvPr id="7" name="Freeform 7"/>
          <p:cNvSpPr/>
          <p:nvPr/>
        </p:nvSpPr>
        <p:spPr>
          <a:xfrm flipV="1">
            <a:off x="9793293" y="5707415"/>
            <a:ext cx="7358247" cy="7358247"/>
          </a:xfrm>
          <a:custGeom>
            <a:avLst/>
            <a:gdLst/>
            <a:ahLst/>
            <a:cxnLst/>
            <a:rect l="l" t="t" r="r" b="b"/>
            <a:pathLst>
              <a:path w="7358247" h="7358247">
                <a:moveTo>
                  <a:pt x="0" y="7358246"/>
                </a:moveTo>
                <a:lnTo>
                  <a:pt x="7358246" y="7358246"/>
                </a:lnTo>
                <a:lnTo>
                  <a:pt x="7358246" y="0"/>
                </a:lnTo>
                <a:lnTo>
                  <a:pt x="0" y="0"/>
                </a:lnTo>
                <a:lnTo>
                  <a:pt x="0" y="7358246"/>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8" name="TextBox 8"/>
          <p:cNvSpPr txBox="1"/>
          <p:nvPr/>
        </p:nvSpPr>
        <p:spPr>
          <a:xfrm>
            <a:off x="1703976" y="2734619"/>
            <a:ext cx="5152572" cy="720725"/>
          </a:xfrm>
          <a:prstGeom prst="rect">
            <a:avLst/>
          </a:prstGeom>
        </p:spPr>
        <p:txBody>
          <a:bodyPr lIns="0" tIns="0" rIns="0" bIns="0" rtlCol="0" anchor="t">
            <a:spAutoFit/>
          </a:bodyPr>
          <a:lstStyle/>
          <a:p>
            <a:pPr marL="0" lvl="0" indent="0" algn="just">
              <a:lnSpc>
                <a:spcPts val="5500"/>
              </a:lnSpc>
            </a:pPr>
            <a:r>
              <a:rPr lang="en-US" sz="5000" b="1" spc="10">
                <a:solidFill>
                  <a:srgbClr val="FFFFFF"/>
                </a:solidFill>
                <a:latin typeface="Open Sauce Bold"/>
                <a:ea typeface="Open Sauce Bold"/>
                <a:cs typeface="Open Sauce Bold"/>
                <a:sym typeface="Open Sauce Bold"/>
              </a:rPr>
              <a:t>BENEFITS</a:t>
            </a:r>
          </a:p>
        </p:txBody>
      </p:sp>
      <p:sp>
        <p:nvSpPr>
          <p:cNvPr id="9" name="TextBox 9"/>
          <p:cNvSpPr txBox="1"/>
          <p:nvPr/>
        </p:nvSpPr>
        <p:spPr>
          <a:xfrm>
            <a:off x="8554085" y="2464848"/>
            <a:ext cx="7517991" cy="4452033"/>
          </a:xfrm>
          <a:prstGeom prst="rect">
            <a:avLst/>
          </a:prstGeom>
        </p:spPr>
        <p:txBody>
          <a:bodyPr lIns="0" tIns="0" rIns="0" bIns="0" rtlCol="0" anchor="t">
            <a:spAutoFit/>
          </a:bodyPr>
          <a:lstStyle/>
          <a:p>
            <a:pPr algn="l">
              <a:lnSpc>
                <a:spcPts val="2937"/>
              </a:lnSpc>
            </a:pPr>
            <a:r>
              <a:rPr lang="en-US" sz="2098" b="1" spc="4">
                <a:solidFill>
                  <a:srgbClr val="FFFFFF"/>
                </a:solidFill>
                <a:latin typeface="Open Sauce Bold"/>
                <a:ea typeface="Open Sauce Bold"/>
                <a:cs typeface="Open Sauce Bold"/>
                <a:sym typeface="Open Sauce Bold"/>
              </a:rPr>
              <a:t>-Real-Time availability: </a:t>
            </a:r>
            <a:r>
              <a:rPr lang="en-US" sz="2098" spc="4">
                <a:solidFill>
                  <a:srgbClr val="FFFFFF"/>
                </a:solidFill>
                <a:latin typeface="Open Sauce"/>
                <a:ea typeface="Open Sauce"/>
                <a:cs typeface="Open Sauce"/>
                <a:sym typeface="Open Sauce"/>
              </a:rPr>
              <a:t>Drivers can instantly see open slots via apps.</a:t>
            </a:r>
          </a:p>
          <a:p>
            <a:pPr algn="l">
              <a:lnSpc>
                <a:spcPts val="2937"/>
              </a:lnSpc>
            </a:pPr>
            <a:r>
              <a:rPr lang="en-US" sz="2098" b="1" spc="4">
                <a:solidFill>
                  <a:srgbClr val="FFFFFF"/>
                </a:solidFill>
                <a:latin typeface="Open Sauce Bold"/>
                <a:ea typeface="Open Sauce Bold"/>
                <a:cs typeface="Open Sauce Bold"/>
                <a:sym typeface="Open Sauce Bold"/>
              </a:rPr>
              <a:t>-Reduced congestion: </a:t>
            </a:r>
            <a:r>
              <a:rPr lang="en-US" sz="2098" spc="4">
                <a:solidFill>
                  <a:srgbClr val="FFFFFF"/>
                </a:solidFill>
                <a:latin typeface="Open Sauce"/>
                <a:ea typeface="Open Sauce"/>
                <a:cs typeface="Open Sauce"/>
                <a:sym typeface="Open Sauce"/>
              </a:rPr>
              <a:t>Less time searching lowers overall city traffic.</a:t>
            </a:r>
          </a:p>
          <a:p>
            <a:pPr algn="l">
              <a:lnSpc>
                <a:spcPts val="2937"/>
              </a:lnSpc>
            </a:pPr>
            <a:r>
              <a:rPr lang="en-US" sz="2098" b="1" spc="4">
                <a:solidFill>
                  <a:srgbClr val="FFFFFF"/>
                </a:solidFill>
                <a:latin typeface="Open Sauce Bold"/>
                <a:ea typeface="Open Sauce Bold"/>
                <a:cs typeface="Open Sauce Bold"/>
                <a:sym typeface="Open Sauce Bold"/>
              </a:rPr>
              <a:t>-Environmental gains: </a:t>
            </a:r>
            <a:r>
              <a:rPr lang="en-US" sz="2098" spc="4">
                <a:solidFill>
                  <a:srgbClr val="FFFFFF"/>
                </a:solidFill>
                <a:latin typeface="Open Sauce"/>
                <a:ea typeface="Open Sauce"/>
                <a:cs typeface="Open Sauce"/>
                <a:sym typeface="Open Sauce"/>
              </a:rPr>
              <a:t>Lower fuel use-&gt; reduced pollution and carbon footprint.</a:t>
            </a:r>
          </a:p>
          <a:p>
            <a:pPr algn="l">
              <a:lnSpc>
                <a:spcPts val="2937"/>
              </a:lnSpc>
            </a:pPr>
            <a:r>
              <a:rPr lang="en-US" sz="2098" b="1" spc="4">
                <a:solidFill>
                  <a:srgbClr val="FFFFFF"/>
                </a:solidFill>
                <a:latin typeface="Open Sauce Bold"/>
                <a:ea typeface="Open Sauce Bold"/>
                <a:cs typeface="Open Sauce Bold"/>
                <a:sym typeface="Open Sauce Bold"/>
              </a:rPr>
              <a:t>-Convenience: </a:t>
            </a:r>
            <a:r>
              <a:rPr lang="en-US" sz="2098" spc="4">
                <a:solidFill>
                  <a:srgbClr val="FFFFFF"/>
                </a:solidFill>
                <a:latin typeface="Open Sauce"/>
                <a:ea typeface="Open Sauce"/>
                <a:cs typeface="Open Sauce"/>
                <a:sym typeface="Open Sauce"/>
              </a:rPr>
              <a:t>Automated entry/exit with reduced waiting time.</a:t>
            </a:r>
          </a:p>
          <a:p>
            <a:pPr algn="l">
              <a:lnSpc>
                <a:spcPts val="2937"/>
              </a:lnSpc>
            </a:pPr>
            <a:r>
              <a:rPr lang="en-US" sz="2098" b="1" spc="4">
                <a:solidFill>
                  <a:srgbClr val="FFFFFF"/>
                </a:solidFill>
                <a:latin typeface="Open Sauce Bold"/>
                <a:ea typeface="Open Sauce Bold"/>
                <a:cs typeface="Open Sauce Bold"/>
                <a:sym typeface="Open Sauce Bold"/>
              </a:rPr>
              <a:t>-Cost saving: </a:t>
            </a:r>
            <a:r>
              <a:rPr lang="en-US" sz="2098" spc="4">
                <a:solidFill>
                  <a:srgbClr val="FFFFFF"/>
                </a:solidFill>
                <a:latin typeface="Open Sauce"/>
                <a:ea typeface="Open Sauce"/>
                <a:cs typeface="Open Sauce"/>
                <a:sym typeface="Open Sauce"/>
              </a:rPr>
              <a:t>Less fuel wasted means lower expenses for drivers.</a:t>
            </a:r>
          </a:p>
          <a:p>
            <a:pPr algn="l">
              <a:lnSpc>
                <a:spcPts val="2937"/>
              </a:lnSpc>
              <a:spcBef>
                <a:spcPct val="0"/>
              </a:spcBef>
            </a:pPr>
            <a:r>
              <a:rPr lang="en-US" sz="2098" b="1" spc="4">
                <a:solidFill>
                  <a:srgbClr val="FFFFFF"/>
                </a:solidFill>
                <a:latin typeface="Open Sauce Bold"/>
                <a:ea typeface="Open Sauce Bold"/>
                <a:cs typeface="Open Sauce Bold"/>
                <a:sym typeface="Open Sauce Bold"/>
              </a:rPr>
              <a:t>-Smart city integration: </a:t>
            </a:r>
            <a:r>
              <a:rPr lang="en-US" sz="2098" spc="4">
                <a:solidFill>
                  <a:srgbClr val="FFFFFF"/>
                </a:solidFill>
                <a:latin typeface="Open Sauce"/>
                <a:ea typeface="Open Sauce"/>
                <a:cs typeface="Open Sauce"/>
                <a:sym typeface="Open Sauce"/>
              </a:rPr>
              <a:t>Enhances overall mobility and urban efficiency.</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p:nvPr/>
        </p:nvGrpSpPr>
        <p:grpSpPr>
          <a:xfrm>
            <a:off x="15481179" y="576468"/>
            <a:ext cx="1919429" cy="566532"/>
            <a:chOff x="0" y="0"/>
            <a:chExt cx="505529" cy="149210"/>
          </a:xfrm>
        </p:grpSpPr>
        <p:sp>
          <p:nvSpPr>
            <p:cNvPr id="3" name="Freeform 3"/>
            <p:cNvSpPr/>
            <p:nvPr/>
          </p:nvSpPr>
          <p:spPr>
            <a:xfrm>
              <a:off x="0" y="0"/>
              <a:ext cx="505529" cy="149210"/>
            </a:xfrm>
            <a:custGeom>
              <a:avLst/>
              <a:gdLst/>
              <a:ahLst/>
              <a:cxnLst/>
              <a:rect l="l" t="t" r="r" b="b"/>
              <a:pathLst>
                <a:path w="505529" h="149210">
                  <a:moveTo>
                    <a:pt x="74605" y="0"/>
                  </a:moveTo>
                  <a:lnTo>
                    <a:pt x="430924" y="0"/>
                  </a:lnTo>
                  <a:cubicBezTo>
                    <a:pt x="472127" y="0"/>
                    <a:pt x="505529" y="33402"/>
                    <a:pt x="505529" y="74605"/>
                  </a:cubicBezTo>
                  <a:lnTo>
                    <a:pt x="505529" y="74605"/>
                  </a:lnTo>
                  <a:cubicBezTo>
                    <a:pt x="505529" y="115808"/>
                    <a:pt x="472127" y="149210"/>
                    <a:pt x="430924" y="149210"/>
                  </a:cubicBezTo>
                  <a:lnTo>
                    <a:pt x="74605" y="149210"/>
                  </a:lnTo>
                  <a:cubicBezTo>
                    <a:pt x="33402" y="149210"/>
                    <a:pt x="0" y="115808"/>
                    <a:pt x="0" y="74605"/>
                  </a:cubicBezTo>
                  <a:lnTo>
                    <a:pt x="0" y="74605"/>
                  </a:lnTo>
                  <a:cubicBezTo>
                    <a:pt x="0" y="33402"/>
                    <a:pt x="33402" y="0"/>
                    <a:pt x="74605" y="0"/>
                  </a:cubicBezTo>
                  <a:close/>
                </a:path>
              </a:pathLst>
            </a:custGeom>
            <a:gradFill rotWithShape="1">
              <a:gsLst>
                <a:gs pos="0">
                  <a:srgbClr val="7357FF">
                    <a:alpha val="100000"/>
                  </a:srgbClr>
                </a:gs>
                <a:gs pos="100000">
                  <a:srgbClr val="FCACFF">
                    <a:alpha val="100000"/>
                  </a:srgbClr>
                </a:gs>
              </a:gsLst>
              <a:lin ang="0"/>
            </a:gradFill>
          </p:spPr>
        </p:sp>
        <p:sp>
          <p:nvSpPr>
            <p:cNvPr id="4" name="TextBox 4"/>
            <p:cNvSpPr txBox="1"/>
            <p:nvPr/>
          </p:nvSpPr>
          <p:spPr>
            <a:xfrm>
              <a:off x="0" y="-38100"/>
              <a:ext cx="505529" cy="187310"/>
            </a:xfrm>
            <a:prstGeom prst="rect">
              <a:avLst/>
            </a:prstGeom>
          </p:spPr>
          <p:txBody>
            <a:bodyPr lIns="50800" tIns="50800" rIns="50800" bIns="50800" rtlCol="0" anchor="ctr"/>
            <a:lstStyle/>
            <a:p>
              <a:pPr algn="ctr">
                <a:lnSpc>
                  <a:spcPts val="2659"/>
                </a:lnSpc>
              </a:pPr>
              <a:endParaRPr/>
            </a:p>
          </p:txBody>
        </p:sp>
      </p:grpSp>
      <p:sp>
        <p:nvSpPr>
          <p:cNvPr id="5" name="Freeform 5"/>
          <p:cNvSpPr/>
          <p:nvPr/>
        </p:nvSpPr>
        <p:spPr>
          <a:xfrm rot="-5400000" flipH="1" flipV="1">
            <a:off x="1204898" y="1559527"/>
            <a:ext cx="7962927" cy="7962927"/>
          </a:xfrm>
          <a:custGeom>
            <a:avLst/>
            <a:gdLst/>
            <a:ahLst/>
            <a:cxnLst/>
            <a:rect l="l" t="t" r="r" b="b"/>
            <a:pathLst>
              <a:path w="7962927" h="7962927">
                <a:moveTo>
                  <a:pt x="7962927" y="7962927"/>
                </a:moveTo>
                <a:lnTo>
                  <a:pt x="0" y="7962927"/>
                </a:lnTo>
                <a:lnTo>
                  <a:pt x="0" y="0"/>
                </a:lnTo>
                <a:lnTo>
                  <a:pt x="7962927" y="0"/>
                </a:lnTo>
                <a:lnTo>
                  <a:pt x="7962927" y="7962927"/>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6" name="TextBox 6"/>
          <p:cNvSpPr txBox="1"/>
          <p:nvPr/>
        </p:nvSpPr>
        <p:spPr>
          <a:xfrm>
            <a:off x="15730249" y="663200"/>
            <a:ext cx="1421291" cy="339725"/>
          </a:xfrm>
          <a:prstGeom prst="rect">
            <a:avLst/>
          </a:prstGeom>
        </p:spPr>
        <p:txBody>
          <a:bodyPr lIns="0" tIns="0" rIns="0" bIns="0" rtlCol="0" anchor="t">
            <a:spAutoFit/>
          </a:bodyPr>
          <a:lstStyle/>
          <a:p>
            <a:pPr algn="ctr">
              <a:lnSpc>
                <a:spcPts val="2799"/>
              </a:lnSpc>
              <a:spcBef>
                <a:spcPct val="0"/>
              </a:spcBef>
            </a:pPr>
            <a:r>
              <a:rPr lang="en-US" sz="1999" b="1" spc="3">
                <a:solidFill>
                  <a:srgbClr val="FFFFFF"/>
                </a:solidFill>
                <a:latin typeface="Open Sauce Bold"/>
                <a:ea typeface="Open Sauce Bold"/>
                <a:cs typeface="Open Sauce Bold"/>
                <a:sym typeface="Open Sauce Bold"/>
              </a:rPr>
              <a:t>Page 06</a:t>
            </a:r>
          </a:p>
        </p:txBody>
      </p:sp>
      <p:sp>
        <p:nvSpPr>
          <p:cNvPr id="7" name="Freeform 7"/>
          <p:cNvSpPr/>
          <p:nvPr/>
        </p:nvSpPr>
        <p:spPr>
          <a:xfrm rot="-5400000" flipH="1">
            <a:off x="10708853" y="3151942"/>
            <a:ext cx="7629348" cy="7643245"/>
          </a:xfrm>
          <a:custGeom>
            <a:avLst/>
            <a:gdLst/>
            <a:ahLst/>
            <a:cxnLst/>
            <a:rect l="l" t="t" r="r" b="b"/>
            <a:pathLst>
              <a:path w="7629348" h="7643245">
                <a:moveTo>
                  <a:pt x="7629349" y="0"/>
                </a:moveTo>
                <a:lnTo>
                  <a:pt x="0" y="0"/>
                </a:lnTo>
                <a:lnTo>
                  <a:pt x="0" y="7643245"/>
                </a:lnTo>
                <a:lnTo>
                  <a:pt x="7629349" y="7643245"/>
                </a:lnTo>
                <a:lnTo>
                  <a:pt x="7629349"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8" name="TextBox 8"/>
          <p:cNvSpPr txBox="1"/>
          <p:nvPr/>
        </p:nvSpPr>
        <p:spPr>
          <a:xfrm>
            <a:off x="10701905" y="2193270"/>
            <a:ext cx="6152011" cy="6178217"/>
          </a:xfrm>
          <a:prstGeom prst="rect">
            <a:avLst/>
          </a:prstGeom>
        </p:spPr>
        <p:txBody>
          <a:bodyPr lIns="0" tIns="0" rIns="0" bIns="0" rtlCol="0" anchor="t">
            <a:spAutoFit/>
          </a:bodyPr>
          <a:lstStyle/>
          <a:p>
            <a:pPr algn="just">
              <a:lnSpc>
                <a:spcPts val="2743"/>
              </a:lnSpc>
            </a:pPr>
            <a:r>
              <a:rPr lang="en-US" sz="1959" spc="3">
                <a:solidFill>
                  <a:srgbClr val="FFFFFF"/>
                </a:solidFill>
                <a:latin typeface="Open Sauce"/>
                <a:ea typeface="Open Sauce"/>
                <a:cs typeface="Open Sauce"/>
                <a:sym typeface="Open Sauce"/>
              </a:rPr>
              <a:t>-</a:t>
            </a:r>
            <a:r>
              <a:rPr lang="en-US" sz="1959" b="1" spc="3">
                <a:solidFill>
                  <a:srgbClr val="FFFFFF"/>
                </a:solidFill>
                <a:latin typeface="Open Sauce Bold"/>
                <a:ea typeface="Open Sauce Bold"/>
                <a:cs typeface="Open Sauce Bold"/>
                <a:sym typeface="Open Sauce Bold"/>
              </a:rPr>
              <a:t>Scalability:</a:t>
            </a:r>
          </a:p>
          <a:p>
            <a:pPr marL="423140" lvl="1" indent="-211570" algn="just">
              <a:lnSpc>
                <a:spcPts val="2743"/>
              </a:lnSpc>
              <a:buFont typeface="Arial"/>
              <a:buChar char="•"/>
            </a:pPr>
            <a:r>
              <a:rPr lang="en-US" sz="1959" spc="3">
                <a:solidFill>
                  <a:srgbClr val="FFFFFF"/>
                </a:solidFill>
                <a:latin typeface="Open Sauce"/>
                <a:ea typeface="Open Sauce"/>
                <a:cs typeface="Open Sauce"/>
                <a:sym typeface="Open Sauce"/>
              </a:rPr>
              <a:t>The system can begin at a single parking facility and later expand across multiple areas or the entire city.</a:t>
            </a:r>
          </a:p>
          <a:p>
            <a:pPr algn="just">
              <a:lnSpc>
                <a:spcPts val="2743"/>
              </a:lnSpc>
            </a:pPr>
            <a:r>
              <a:rPr lang="en-US" sz="1959" b="1" spc="3">
                <a:solidFill>
                  <a:srgbClr val="FFFFFF"/>
                </a:solidFill>
                <a:latin typeface="Open Sauce Bold"/>
                <a:ea typeface="Open Sauce Bold"/>
                <a:cs typeface="Open Sauce Bold"/>
                <a:sym typeface="Open Sauce Bold"/>
              </a:rPr>
              <a:t>-Sustainability:</a:t>
            </a:r>
          </a:p>
          <a:p>
            <a:pPr marL="423140" lvl="1" indent="-211570" algn="just">
              <a:lnSpc>
                <a:spcPts val="2743"/>
              </a:lnSpc>
              <a:buFont typeface="Arial"/>
              <a:buChar char="•"/>
            </a:pPr>
            <a:r>
              <a:rPr lang="en-US" sz="1959" spc="3">
                <a:solidFill>
                  <a:srgbClr val="FFFFFF"/>
                </a:solidFill>
                <a:latin typeface="Open Sauce"/>
                <a:ea typeface="Open Sauce"/>
                <a:cs typeface="Open Sauce"/>
                <a:sym typeface="Open Sauce"/>
              </a:rPr>
              <a:t>Contributes to reducing traffic congestion and pollution, supporting smart city and green mobility objectives.</a:t>
            </a:r>
          </a:p>
          <a:p>
            <a:pPr algn="just">
              <a:lnSpc>
                <a:spcPts val="2743"/>
              </a:lnSpc>
            </a:pPr>
            <a:r>
              <a:rPr lang="en-US" sz="1959" b="1" spc="3">
                <a:solidFill>
                  <a:srgbClr val="FFFFFF"/>
                </a:solidFill>
                <a:latin typeface="Open Sauce Bold"/>
                <a:ea typeface="Open Sauce Bold"/>
                <a:cs typeface="Open Sauce Bold"/>
                <a:sym typeface="Open Sauce Bold"/>
              </a:rPr>
              <a:t>-Long-term Benefits:</a:t>
            </a:r>
          </a:p>
          <a:p>
            <a:pPr marL="423140" lvl="1" indent="-211570" algn="just">
              <a:lnSpc>
                <a:spcPts val="2743"/>
              </a:lnSpc>
              <a:buFont typeface="Arial"/>
              <a:buChar char="•"/>
            </a:pPr>
            <a:r>
              <a:rPr lang="en-US" sz="1959" spc="3">
                <a:solidFill>
                  <a:srgbClr val="FFFFFF"/>
                </a:solidFill>
                <a:latin typeface="Open Sauce"/>
                <a:ea typeface="Open Sauce"/>
                <a:cs typeface="Open Sauce"/>
                <a:sym typeface="Open Sauce"/>
              </a:rPr>
              <a:t>Saves time and fuel for drivers by enabling quick parking spot identification.</a:t>
            </a:r>
          </a:p>
          <a:p>
            <a:pPr marL="423140" lvl="1" indent="-211570" algn="just">
              <a:lnSpc>
                <a:spcPts val="2743"/>
              </a:lnSpc>
              <a:buFont typeface="Arial"/>
              <a:buChar char="•"/>
            </a:pPr>
            <a:r>
              <a:rPr lang="en-US" sz="1959" spc="3">
                <a:solidFill>
                  <a:srgbClr val="FFFFFF"/>
                </a:solidFill>
                <a:latin typeface="Open Sauce"/>
                <a:ea typeface="Open Sauce"/>
                <a:cs typeface="Open Sauce"/>
                <a:sym typeface="Open Sauce"/>
              </a:rPr>
              <a:t>Enhances traffic flow and promotes better utilization of available urban space.</a:t>
            </a:r>
          </a:p>
          <a:p>
            <a:pPr algn="just">
              <a:lnSpc>
                <a:spcPts val="2743"/>
              </a:lnSpc>
            </a:pPr>
            <a:r>
              <a:rPr lang="en-US" sz="1959" b="1" spc="3">
                <a:solidFill>
                  <a:srgbClr val="FFFFFF"/>
                </a:solidFill>
                <a:latin typeface="Open Sauce Bold"/>
                <a:ea typeface="Open Sauce Bold"/>
                <a:cs typeface="Open Sauce Bold"/>
                <a:sym typeface="Open Sauce Bold"/>
              </a:rPr>
              <a:t>-Adaptability:</a:t>
            </a:r>
          </a:p>
          <a:p>
            <a:pPr marL="423140" lvl="1" indent="-211570" algn="just">
              <a:lnSpc>
                <a:spcPts val="2743"/>
              </a:lnSpc>
              <a:spcBef>
                <a:spcPct val="0"/>
              </a:spcBef>
              <a:buFont typeface="Arial"/>
              <a:buChar char="•"/>
            </a:pPr>
            <a:r>
              <a:rPr lang="en-US" sz="1959" spc="3">
                <a:solidFill>
                  <a:srgbClr val="FFFFFF"/>
                </a:solidFill>
                <a:latin typeface="Open Sauce"/>
                <a:ea typeface="Open Sauce"/>
                <a:cs typeface="Open Sauce"/>
                <a:sym typeface="Open Sauce"/>
              </a:rPr>
              <a:t>Can integrate with future technologies such as AI-based prediction systems, EV charging slots, and advanced digital payment solutions.</a:t>
            </a:r>
          </a:p>
          <a:p>
            <a:pPr algn="just">
              <a:lnSpc>
                <a:spcPts val="2743"/>
              </a:lnSpc>
              <a:spcBef>
                <a:spcPct val="0"/>
              </a:spcBef>
            </a:pPr>
            <a:endParaRPr lang="en-US" sz="1959" spc="3">
              <a:solidFill>
                <a:srgbClr val="FFFFFF"/>
              </a:solidFill>
              <a:latin typeface="Open Sauce"/>
              <a:ea typeface="Open Sauce"/>
              <a:cs typeface="Open Sauce"/>
              <a:sym typeface="Open Sauce"/>
            </a:endParaRPr>
          </a:p>
        </p:txBody>
      </p:sp>
      <p:sp>
        <p:nvSpPr>
          <p:cNvPr id="9" name="TextBox 9"/>
          <p:cNvSpPr txBox="1"/>
          <p:nvPr/>
        </p:nvSpPr>
        <p:spPr>
          <a:xfrm>
            <a:off x="2562922" y="2817578"/>
            <a:ext cx="6581078" cy="720725"/>
          </a:xfrm>
          <a:prstGeom prst="rect">
            <a:avLst/>
          </a:prstGeom>
        </p:spPr>
        <p:txBody>
          <a:bodyPr lIns="0" tIns="0" rIns="0" bIns="0" rtlCol="0" anchor="t">
            <a:spAutoFit/>
          </a:bodyPr>
          <a:lstStyle/>
          <a:p>
            <a:pPr marL="0" lvl="0" indent="0" algn="just">
              <a:lnSpc>
                <a:spcPts val="5500"/>
              </a:lnSpc>
            </a:pPr>
            <a:r>
              <a:rPr lang="en-US" sz="5000" b="1" spc="10">
                <a:solidFill>
                  <a:srgbClr val="FFFFFF"/>
                </a:solidFill>
                <a:latin typeface="Open Sauce Bold"/>
                <a:ea typeface="Open Sauce Bold"/>
                <a:cs typeface="Open Sauce Bold"/>
                <a:sym typeface="Open Sauce Bold"/>
              </a:rPr>
              <a:t>VIABILITY</a:t>
            </a:r>
          </a:p>
        </p:txBody>
      </p:sp>
      <p:sp>
        <p:nvSpPr>
          <p:cNvPr id="10" name="Freeform 10"/>
          <p:cNvSpPr/>
          <p:nvPr/>
        </p:nvSpPr>
        <p:spPr>
          <a:xfrm flipV="1">
            <a:off x="7106386" y="3158890"/>
            <a:ext cx="1432847" cy="1432847"/>
          </a:xfrm>
          <a:custGeom>
            <a:avLst/>
            <a:gdLst/>
            <a:ahLst/>
            <a:cxnLst/>
            <a:rect l="l" t="t" r="r" b="b"/>
            <a:pathLst>
              <a:path w="1432847" h="1432847">
                <a:moveTo>
                  <a:pt x="0" y="1432847"/>
                </a:moveTo>
                <a:lnTo>
                  <a:pt x="1432847" y="1432847"/>
                </a:lnTo>
                <a:lnTo>
                  <a:pt x="1432847" y="0"/>
                </a:lnTo>
                <a:lnTo>
                  <a:pt x="0" y="0"/>
                </a:lnTo>
                <a:lnTo>
                  <a:pt x="0" y="1432847"/>
                </a:lnTo>
                <a:close/>
              </a:path>
            </a:pathLst>
          </a:custGeom>
          <a:blipFill>
            <a:blip r:embed="rId6">
              <a:extLst>
                <a:ext uri="{96DAC541-7B7A-43D3-8B79-37D633B846F1}">
                  <asvg:svgBlip xmlns:asvg="http://schemas.microsoft.com/office/drawing/2016/SVG/main" r:embed="rId7"/>
                </a:ext>
              </a:extLst>
            </a:blip>
            <a:stretch>
              <a:fillRect/>
            </a:stretch>
          </a:blipFill>
        </p:spPr>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Freeform 2"/>
          <p:cNvSpPr/>
          <p:nvPr/>
        </p:nvSpPr>
        <p:spPr>
          <a:xfrm rot="-5400000">
            <a:off x="5443169" y="-2557831"/>
            <a:ext cx="7401663" cy="18288000"/>
          </a:xfrm>
          <a:custGeom>
            <a:avLst/>
            <a:gdLst/>
            <a:ahLst/>
            <a:cxnLst/>
            <a:rect l="l" t="t" r="r" b="b"/>
            <a:pathLst>
              <a:path w="7401663" h="18288000">
                <a:moveTo>
                  <a:pt x="0" y="0"/>
                </a:moveTo>
                <a:lnTo>
                  <a:pt x="7401662" y="0"/>
                </a:lnTo>
                <a:lnTo>
                  <a:pt x="7401662" y="18288000"/>
                </a:lnTo>
                <a:lnTo>
                  <a:pt x="0" y="18288000"/>
                </a:lnTo>
                <a:lnTo>
                  <a:pt x="0" y="0"/>
                </a:lnTo>
                <a:close/>
              </a:path>
            </a:pathLst>
          </a:custGeom>
          <a:blipFill>
            <a:blip r:embed="rId2">
              <a:extLst>
                <a:ext uri="{96DAC541-7B7A-43D3-8B79-37D633B846F1}">
                  <asvg:svgBlip xmlns:asvg="http://schemas.microsoft.com/office/drawing/2016/SVG/main" r:embed="rId3"/>
                </a:ext>
              </a:extLst>
            </a:blip>
            <a:stretch>
              <a:fillRect l="-37016"/>
            </a:stretch>
          </a:blipFill>
        </p:spPr>
      </p:sp>
      <p:sp>
        <p:nvSpPr>
          <p:cNvPr id="3" name="TextBox 3"/>
          <p:cNvSpPr txBox="1"/>
          <p:nvPr/>
        </p:nvSpPr>
        <p:spPr>
          <a:xfrm>
            <a:off x="2601336" y="3321784"/>
            <a:ext cx="8370898" cy="2696339"/>
          </a:xfrm>
          <a:prstGeom prst="rect">
            <a:avLst/>
          </a:prstGeom>
        </p:spPr>
        <p:txBody>
          <a:bodyPr lIns="0" tIns="0" rIns="0" bIns="0" rtlCol="0" anchor="t">
            <a:spAutoFit/>
          </a:bodyPr>
          <a:lstStyle/>
          <a:p>
            <a:pPr marL="0" lvl="0" indent="0" algn="ctr">
              <a:lnSpc>
                <a:spcPts val="22262"/>
              </a:lnSpc>
              <a:spcBef>
                <a:spcPct val="0"/>
              </a:spcBef>
            </a:pPr>
            <a:r>
              <a:rPr lang="en-US" sz="15901" spc="-747">
                <a:solidFill>
                  <a:srgbClr val="FFFFFF"/>
                </a:solidFill>
                <a:latin typeface="Open Sauce Light"/>
                <a:ea typeface="Open Sauce Light"/>
                <a:cs typeface="Open Sauce Light"/>
                <a:sym typeface="Open Sauce Light"/>
              </a:rPr>
              <a:t>Thank</a:t>
            </a:r>
          </a:p>
        </p:txBody>
      </p:sp>
      <p:sp>
        <p:nvSpPr>
          <p:cNvPr id="4" name="TextBox 4"/>
          <p:cNvSpPr txBox="1"/>
          <p:nvPr/>
        </p:nvSpPr>
        <p:spPr>
          <a:xfrm>
            <a:off x="8196971" y="3315762"/>
            <a:ext cx="6728953" cy="2696339"/>
          </a:xfrm>
          <a:prstGeom prst="rect">
            <a:avLst/>
          </a:prstGeom>
        </p:spPr>
        <p:txBody>
          <a:bodyPr lIns="0" tIns="0" rIns="0" bIns="0" rtlCol="0" anchor="t">
            <a:spAutoFit/>
          </a:bodyPr>
          <a:lstStyle/>
          <a:p>
            <a:pPr marL="0" lvl="0" indent="0" algn="ctr">
              <a:lnSpc>
                <a:spcPts val="22262"/>
              </a:lnSpc>
              <a:spcBef>
                <a:spcPct val="0"/>
              </a:spcBef>
            </a:pPr>
            <a:r>
              <a:rPr lang="en-US" sz="15901" b="1" spc="-747">
                <a:solidFill>
                  <a:srgbClr val="FFFFFF"/>
                </a:solidFill>
                <a:latin typeface="Open Sauce Bold"/>
                <a:ea typeface="Open Sauce Bold"/>
                <a:cs typeface="Open Sauce Bold"/>
                <a:sym typeface="Open Sauce Bold"/>
              </a:rPr>
              <a:t>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339</TotalTime>
  <Words>559</Words>
  <Application>Microsoft Office PowerPoint</Application>
  <PresentationFormat>Custom</PresentationFormat>
  <Paragraphs>48</Paragraphs>
  <Slides>8</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8</vt:i4>
      </vt:variant>
    </vt:vector>
  </HeadingPairs>
  <TitlesOfParts>
    <vt:vector size="16" baseType="lpstr">
      <vt:lpstr>Arial</vt:lpstr>
      <vt:lpstr>Open Sauce Light</vt:lpstr>
      <vt:lpstr>Open Sauce Bold</vt:lpstr>
      <vt:lpstr>Open Sauce</vt:lpstr>
      <vt:lpstr>Open Sauce Medium</vt:lpstr>
      <vt:lpstr>Tex Gyre Bonum</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ParkTem</dc:title>
  <cp:lastModifiedBy>Armaan Aman</cp:lastModifiedBy>
  <cp:revision>2</cp:revision>
  <dcterms:created xsi:type="dcterms:W3CDTF">2006-08-16T00:00:00Z</dcterms:created>
  <dcterms:modified xsi:type="dcterms:W3CDTF">2025-11-11T08:52:30Z</dcterms:modified>
  <dc:identifier>DAG1rXfaH5A</dc:identifier>
</cp:coreProperties>
</file>